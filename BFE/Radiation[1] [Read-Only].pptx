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80" r:id="rId4"/>
    <p:sldId id="281" r:id="rId5"/>
    <p:sldId id="282" r:id="rId6"/>
    <p:sldId id="286" r:id="rId7"/>
    <p:sldId id="287" r:id="rId8"/>
    <p:sldId id="285" r:id="rId9"/>
    <p:sldId id="283" r:id="rId10"/>
    <p:sldId id="260" r:id="rId11"/>
    <p:sldId id="258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79300" cy="6858000"/>
  <p:notesSz cx="121793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725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78438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899275" y="0"/>
            <a:ext cx="527685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38FFE4-B196-46FD-92DF-DC36920260A3}" type="datetimeFigureOut">
              <a:rPr lang="en-IN" smtClean="0"/>
              <a:t>29-11-2024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3838" y="857250"/>
            <a:ext cx="411162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7613" y="3300413"/>
            <a:ext cx="9744075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78438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899275" y="6513513"/>
            <a:ext cx="527685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75D7C-F119-403C-93E2-F73626AAD5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516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B75D7C-F119-403C-93E2-F73626AAD5D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558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3447" y="2125980"/>
            <a:ext cx="10352405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6895" y="3840480"/>
            <a:ext cx="852551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3F3F3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3F3F3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8965" y="1577340"/>
            <a:ext cx="5297995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2339" y="1577340"/>
            <a:ext cx="5297995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11/29/2024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61249" y="0"/>
            <a:ext cx="1217930" cy="6851015"/>
          </a:xfrm>
          <a:custGeom>
            <a:avLst/>
            <a:gdLst/>
            <a:ahLst/>
            <a:cxnLst/>
            <a:rect l="l" t="t" r="r" b="b"/>
            <a:pathLst>
              <a:path w="1217929" h="6851015">
                <a:moveTo>
                  <a:pt x="0" y="0"/>
                </a:moveTo>
                <a:lnTo>
                  <a:pt x="1217929" y="6850856"/>
                </a:lnTo>
              </a:path>
            </a:pathLst>
          </a:custGeom>
          <a:ln w="9515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17532" y="3677578"/>
            <a:ext cx="4758690" cy="3173730"/>
          </a:xfrm>
          <a:custGeom>
            <a:avLst/>
            <a:gdLst/>
            <a:ahLst/>
            <a:cxnLst/>
            <a:rect l="l" t="t" r="r" b="b"/>
            <a:pathLst>
              <a:path w="4758690" h="3173729">
                <a:moveTo>
                  <a:pt x="4758595" y="0"/>
                </a:moveTo>
                <a:lnTo>
                  <a:pt x="0" y="3173278"/>
                </a:lnTo>
              </a:path>
            </a:pathLst>
          </a:custGeom>
          <a:ln w="9515">
            <a:solidFill>
              <a:srgbClr val="D8D8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71911" y="0"/>
            <a:ext cx="3004820" cy="6851015"/>
          </a:xfrm>
          <a:custGeom>
            <a:avLst/>
            <a:gdLst/>
            <a:ahLst/>
            <a:cxnLst/>
            <a:rect l="l" t="t" r="r" b="b"/>
            <a:pathLst>
              <a:path w="3004820" h="6851015">
                <a:moveTo>
                  <a:pt x="3004216" y="6850855"/>
                </a:moveTo>
                <a:lnTo>
                  <a:pt x="0" y="6850855"/>
                </a:lnTo>
                <a:lnTo>
                  <a:pt x="2040881" y="0"/>
                </a:lnTo>
                <a:lnTo>
                  <a:pt x="3004216" y="0"/>
                </a:lnTo>
                <a:lnTo>
                  <a:pt x="3004216" y="6850855"/>
                </a:lnTo>
                <a:close/>
              </a:path>
            </a:pathLst>
          </a:custGeom>
          <a:solidFill>
            <a:srgbClr val="8FC225">
              <a:alpha val="297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594928" y="0"/>
            <a:ext cx="2584450" cy="6851015"/>
          </a:xfrm>
          <a:custGeom>
            <a:avLst/>
            <a:gdLst/>
            <a:ahLst/>
            <a:cxnLst/>
            <a:rect l="l" t="t" r="r" b="b"/>
            <a:pathLst>
              <a:path w="2584450" h="6851015">
                <a:moveTo>
                  <a:pt x="2584370" y="6850855"/>
                </a:moveTo>
                <a:lnTo>
                  <a:pt x="1206709" y="6850855"/>
                </a:lnTo>
                <a:lnTo>
                  <a:pt x="0" y="0"/>
                </a:lnTo>
                <a:lnTo>
                  <a:pt x="2584370" y="0"/>
                </a:lnTo>
                <a:lnTo>
                  <a:pt x="2584370" y="6850855"/>
                </a:lnTo>
                <a:close/>
              </a:path>
            </a:pathLst>
          </a:custGeom>
          <a:solidFill>
            <a:srgbClr val="8FC22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23027" y="3044824"/>
            <a:ext cx="3256279" cy="3806190"/>
          </a:xfrm>
          <a:custGeom>
            <a:avLst/>
            <a:gdLst/>
            <a:ahLst/>
            <a:cxnLst/>
            <a:rect l="l" t="t" r="r" b="b"/>
            <a:pathLst>
              <a:path w="3256279" h="3806190">
                <a:moveTo>
                  <a:pt x="3256271" y="3806031"/>
                </a:moveTo>
                <a:lnTo>
                  <a:pt x="0" y="3806031"/>
                </a:lnTo>
                <a:lnTo>
                  <a:pt x="3256271" y="0"/>
                </a:lnTo>
                <a:lnTo>
                  <a:pt x="3256271" y="3806031"/>
                </a:lnTo>
                <a:close/>
              </a:path>
            </a:pathLst>
          </a:custGeom>
          <a:solidFill>
            <a:srgbClr val="53A020">
              <a:alpha val="717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27819" y="0"/>
            <a:ext cx="2848610" cy="6851015"/>
          </a:xfrm>
          <a:custGeom>
            <a:avLst/>
            <a:gdLst/>
            <a:ahLst/>
            <a:cxnLst/>
            <a:rect l="l" t="t" r="r" b="b"/>
            <a:pathLst>
              <a:path w="2848609" h="6851015">
                <a:moveTo>
                  <a:pt x="2848308" y="6850855"/>
                </a:moveTo>
                <a:lnTo>
                  <a:pt x="2465133" y="6850855"/>
                </a:lnTo>
                <a:lnTo>
                  <a:pt x="0" y="0"/>
                </a:lnTo>
                <a:lnTo>
                  <a:pt x="2848308" y="0"/>
                </a:lnTo>
                <a:lnTo>
                  <a:pt x="2848308" y="6850855"/>
                </a:lnTo>
                <a:close/>
              </a:path>
            </a:pathLst>
          </a:custGeom>
          <a:solidFill>
            <a:srgbClr val="3F7817">
              <a:alpha val="697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87376" y="0"/>
            <a:ext cx="1289050" cy="6851015"/>
          </a:xfrm>
          <a:custGeom>
            <a:avLst/>
            <a:gdLst/>
            <a:ahLst/>
            <a:cxnLst/>
            <a:rect l="l" t="t" r="r" b="b"/>
            <a:pathLst>
              <a:path w="1289050" h="6851015">
                <a:moveTo>
                  <a:pt x="1288750" y="6850855"/>
                </a:moveTo>
                <a:lnTo>
                  <a:pt x="0" y="6850855"/>
                </a:lnTo>
                <a:lnTo>
                  <a:pt x="1017416" y="0"/>
                </a:lnTo>
                <a:lnTo>
                  <a:pt x="1288750" y="0"/>
                </a:lnTo>
                <a:lnTo>
                  <a:pt x="1288750" y="6850855"/>
                </a:lnTo>
                <a:close/>
              </a:path>
            </a:pathLst>
          </a:custGeom>
          <a:solidFill>
            <a:srgbClr val="BEE370">
              <a:alpha val="697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28970" y="0"/>
            <a:ext cx="1247775" cy="6851015"/>
          </a:xfrm>
          <a:custGeom>
            <a:avLst/>
            <a:gdLst/>
            <a:ahLst/>
            <a:cxnLst/>
            <a:rect l="l" t="t" r="r" b="b"/>
            <a:pathLst>
              <a:path w="1247775" h="6851015">
                <a:moveTo>
                  <a:pt x="1247156" y="6850855"/>
                </a:moveTo>
                <a:lnTo>
                  <a:pt x="1106859" y="6850855"/>
                </a:lnTo>
                <a:lnTo>
                  <a:pt x="0" y="0"/>
                </a:lnTo>
                <a:lnTo>
                  <a:pt x="1247156" y="0"/>
                </a:lnTo>
                <a:lnTo>
                  <a:pt x="1247156" y="6850855"/>
                </a:lnTo>
                <a:close/>
              </a:path>
            </a:pathLst>
          </a:custGeom>
          <a:solidFill>
            <a:srgbClr val="8FC225">
              <a:alpha val="6470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60861" y="3586127"/>
            <a:ext cx="1815464" cy="3265170"/>
          </a:xfrm>
          <a:custGeom>
            <a:avLst/>
            <a:gdLst/>
            <a:ahLst/>
            <a:cxnLst/>
            <a:rect l="l" t="t" r="r" b="b"/>
            <a:pathLst>
              <a:path w="1815465" h="3265170">
                <a:moveTo>
                  <a:pt x="1815266" y="3264728"/>
                </a:moveTo>
                <a:lnTo>
                  <a:pt x="0" y="3264728"/>
                </a:lnTo>
                <a:lnTo>
                  <a:pt x="1815266" y="0"/>
                </a:lnTo>
                <a:lnTo>
                  <a:pt x="1815266" y="3264728"/>
                </a:lnTo>
                <a:close/>
              </a:path>
            </a:pathLst>
          </a:custGeom>
          <a:solidFill>
            <a:srgbClr val="8FC225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3F3F3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11/29/2024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11/29/2024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61249" y="0"/>
            <a:ext cx="1217930" cy="6851015"/>
          </a:xfrm>
          <a:custGeom>
            <a:avLst/>
            <a:gdLst/>
            <a:ahLst/>
            <a:cxnLst/>
            <a:rect l="l" t="t" r="r" b="b"/>
            <a:pathLst>
              <a:path w="1217929" h="6851015">
                <a:moveTo>
                  <a:pt x="0" y="0"/>
                </a:moveTo>
                <a:lnTo>
                  <a:pt x="1217929" y="6850856"/>
                </a:lnTo>
              </a:path>
            </a:pathLst>
          </a:custGeom>
          <a:ln w="9515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17532" y="3677578"/>
            <a:ext cx="4758690" cy="3173730"/>
          </a:xfrm>
          <a:custGeom>
            <a:avLst/>
            <a:gdLst/>
            <a:ahLst/>
            <a:cxnLst/>
            <a:rect l="l" t="t" r="r" b="b"/>
            <a:pathLst>
              <a:path w="4758690" h="3173729">
                <a:moveTo>
                  <a:pt x="4758595" y="0"/>
                </a:moveTo>
                <a:lnTo>
                  <a:pt x="0" y="3173278"/>
                </a:lnTo>
              </a:path>
            </a:pathLst>
          </a:custGeom>
          <a:ln w="9515">
            <a:solidFill>
              <a:srgbClr val="D8D8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71911" y="0"/>
            <a:ext cx="3004820" cy="6851015"/>
          </a:xfrm>
          <a:custGeom>
            <a:avLst/>
            <a:gdLst/>
            <a:ahLst/>
            <a:cxnLst/>
            <a:rect l="l" t="t" r="r" b="b"/>
            <a:pathLst>
              <a:path w="3004820" h="6851015">
                <a:moveTo>
                  <a:pt x="3004216" y="6850855"/>
                </a:moveTo>
                <a:lnTo>
                  <a:pt x="0" y="6850855"/>
                </a:lnTo>
                <a:lnTo>
                  <a:pt x="2040881" y="0"/>
                </a:lnTo>
                <a:lnTo>
                  <a:pt x="3004216" y="0"/>
                </a:lnTo>
                <a:lnTo>
                  <a:pt x="3004216" y="6850855"/>
                </a:lnTo>
                <a:close/>
              </a:path>
            </a:pathLst>
          </a:custGeom>
          <a:solidFill>
            <a:srgbClr val="8FC225">
              <a:alpha val="297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594928" y="0"/>
            <a:ext cx="2584450" cy="6851015"/>
          </a:xfrm>
          <a:custGeom>
            <a:avLst/>
            <a:gdLst/>
            <a:ahLst/>
            <a:cxnLst/>
            <a:rect l="l" t="t" r="r" b="b"/>
            <a:pathLst>
              <a:path w="2584450" h="6851015">
                <a:moveTo>
                  <a:pt x="2584370" y="6850855"/>
                </a:moveTo>
                <a:lnTo>
                  <a:pt x="1206709" y="6850855"/>
                </a:lnTo>
                <a:lnTo>
                  <a:pt x="0" y="0"/>
                </a:lnTo>
                <a:lnTo>
                  <a:pt x="2584370" y="0"/>
                </a:lnTo>
                <a:lnTo>
                  <a:pt x="2584370" y="6850855"/>
                </a:lnTo>
                <a:close/>
              </a:path>
            </a:pathLst>
          </a:custGeom>
          <a:solidFill>
            <a:srgbClr val="8FC22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23027" y="3044824"/>
            <a:ext cx="3256279" cy="3806190"/>
          </a:xfrm>
          <a:custGeom>
            <a:avLst/>
            <a:gdLst/>
            <a:ahLst/>
            <a:cxnLst/>
            <a:rect l="l" t="t" r="r" b="b"/>
            <a:pathLst>
              <a:path w="3256279" h="3806190">
                <a:moveTo>
                  <a:pt x="3256271" y="3806031"/>
                </a:moveTo>
                <a:lnTo>
                  <a:pt x="0" y="3806031"/>
                </a:lnTo>
                <a:lnTo>
                  <a:pt x="3256271" y="0"/>
                </a:lnTo>
                <a:lnTo>
                  <a:pt x="3256271" y="3806031"/>
                </a:lnTo>
                <a:close/>
              </a:path>
            </a:pathLst>
          </a:custGeom>
          <a:solidFill>
            <a:srgbClr val="53A020">
              <a:alpha val="717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27819" y="0"/>
            <a:ext cx="2848610" cy="6851015"/>
          </a:xfrm>
          <a:custGeom>
            <a:avLst/>
            <a:gdLst/>
            <a:ahLst/>
            <a:cxnLst/>
            <a:rect l="l" t="t" r="r" b="b"/>
            <a:pathLst>
              <a:path w="2848609" h="6851015">
                <a:moveTo>
                  <a:pt x="2848308" y="6850855"/>
                </a:moveTo>
                <a:lnTo>
                  <a:pt x="2465133" y="6850855"/>
                </a:lnTo>
                <a:lnTo>
                  <a:pt x="0" y="0"/>
                </a:lnTo>
                <a:lnTo>
                  <a:pt x="2848308" y="0"/>
                </a:lnTo>
                <a:lnTo>
                  <a:pt x="2848308" y="6850855"/>
                </a:lnTo>
                <a:close/>
              </a:path>
            </a:pathLst>
          </a:custGeom>
          <a:solidFill>
            <a:srgbClr val="3F7817">
              <a:alpha val="697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87376" y="0"/>
            <a:ext cx="1289050" cy="6851015"/>
          </a:xfrm>
          <a:custGeom>
            <a:avLst/>
            <a:gdLst/>
            <a:ahLst/>
            <a:cxnLst/>
            <a:rect l="l" t="t" r="r" b="b"/>
            <a:pathLst>
              <a:path w="1289050" h="6851015">
                <a:moveTo>
                  <a:pt x="1288750" y="6850855"/>
                </a:moveTo>
                <a:lnTo>
                  <a:pt x="0" y="6850855"/>
                </a:lnTo>
                <a:lnTo>
                  <a:pt x="1017416" y="0"/>
                </a:lnTo>
                <a:lnTo>
                  <a:pt x="1288750" y="0"/>
                </a:lnTo>
                <a:lnTo>
                  <a:pt x="1288750" y="6850855"/>
                </a:lnTo>
                <a:close/>
              </a:path>
            </a:pathLst>
          </a:custGeom>
          <a:solidFill>
            <a:srgbClr val="BEE370">
              <a:alpha val="697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28970" y="0"/>
            <a:ext cx="1247775" cy="6851015"/>
          </a:xfrm>
          <a:custGeom>
            <a:avLst/>
            <a:gdLst/>
            <a:ahLst/>
            <a:cxnLst/>
            <a:rect l="l" t="t" r="r" b="b"/>
            <a:pathLst>
              <a:path w="1247775" h="6851015">
                <a:moveTo>
                  <a:pt x="1247156" y="6850855"/>
                </a:moveTo>
                <a:lnTo>
                  <a:pt x="1106859" y="6850855"/>
                </a:lnTo>
                <a:lnTo>
                  <a:pt x="0" y="0"/>
                </a:lnTo>
                <a:lnTo>
                  <a:pt x="1247156" y="0"/>
                </a:lnTo>
                <a:lnTo>
                  <a:pt x="1247156" y="6850855"/>
                </a:lnTo>
                <a:close/>
              </a:path>
            </a:pathLst>
          </a:custGeom>
          <a:solidFill>
            <a:srgbClr val="8FC225">
              <a:alpha val="6470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60861" y="3586127"/>
            <a:ext cx="1815464" cy="3265170"/>
          </a:xfrm>
          <a:custGeom>
            <a:avLst/>
            <a:gdLst/>
            <a:ahLst/>
            <a:cxnLst/>
            <a:rect l="l" t="t" r="r" b="b"/>
            <a:pathLst>
              <a:path w="1815465" h="3265170">
                <a:moveTo>
                  <a:pt x="1815266" y="3264728"/>
                </a:moveTo>
                <a:lnTo>
                  <a:pt x="0" y="3264728"/>
                </a:lnTo>
                <a:lnTo>
                  <a:pt x="1815266" y="0"/>
                </a:lnTo>
                <a:lnTo>
                  <a:pt x="1815266" y="3264728"/>
                </a:lnTo>
                <a:close/>
              </a:path>
            </a:pathLst>
          </a:custGeom>
          <a:solidFill>
            <a:srgbClr val="8FC225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4009019"/>
            <a:ext cx="448309" cy="2842260"/>
          </a:xfrm>
          <a:custGeom>
            <a:avLst/>
            <a:gdLst/>
            <a:ahLst/>
            <a:cxnLst/>
            <a:rect l="l" t="t" r="r" b="b"/>
            <a:pathLst>
              <a:path w="448309" h="2842259">
                <a:moveTo>
                  <a:pt x="448265" y="2841836"/>
                </a:moveTo>
                <a:lnTo>
                  <a:pt x="0" y="2841836"/>
                </a:lnTo>
                <a:lnTo>
                  <a:pt x="0" y="0"/>
                </a:lnTo>
                <a:lnTo>
                  <a:pt x="448265" y="2841836"/>
                </a:lnTo>
                <a:close/>
              </a:path>
            </a:pathLst>
          </a:custGeom>
          <a:solidFill>
            <a:srgbClr val="8FC225">
              <a:alpha val="8470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4090" y="310858"/>
            <a:ext cx="7139940" cy="299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3F3F3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2421" y="2181775"/>
            <a:ext cx="10714456" cy="24784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0962" y="6377940"/>
            <a:ext cx="3897376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8965" y="6377940"/>
            <a:ext cx="280123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69096" y="6377940"/>
            <a:ext cx="280123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842010" cy="5660390"/>
          </a:xfrm>
          <a:custGeom>
            <a:avLst/>
            <a:gdLst/>
            <a:ahLst/>
            <a:cxnLst/>
            <a:rect l="l" t="t" r="r" b="b"/>
            <a:pathLst>
              <a:path w="842010" h="5660390">
                <a:moveTo>
                  <a:pt x="0" y="5660251"/>
                </a:moveTo>
                <a:lnTo>
                  <a:pt x="0" y="0"/>
                </a:lnTo>
                <a:lnTo>
                  <a:pt x="841718" y="0"/>
                </a:lnTo>
                <a:lnTo>
                  <a:pt x="0" y="5660251"/>
                </a:lnTo>
                <a:close/>
              </a:path>
            </a:pathLst>
          </a:custGeom>
          <a:solidFill>
            <a:srgbClr val="8FC225">
              <a:alpha val="8470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65250" y="3200032"/>
            <a:ext cx="830580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IN" sz="3200" b="1" spc="260" dirty="0">
                <a:solidFill>
                  <a:srgbClr val="6F2FA0"/>
                </a:solidFill>
                <a:latin typeface="Roboto"/>
                <a:cs typeface="Roboto"/>
              </a:rPr>
              <a:t>RADIATION</a:t>
            </a:r>
            <a:endParaRPr sz="32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98983" y="685800"/>
            <a:ext cx="3253104" cy="50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5"/>
              </a:spcBef>
            </a:pPr>
            <a:r>
              <a:rPr sz="3200" b="1" spc="15" dirty="0">
                <a:solidFill>
                  <a:srgbClr val="8FC2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sz="3200" b="1" spc="-10" dirty="0">
                <a:solidFill>
                  <a:srgbClr val="8FC2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10" dirty="0">
                <a:solidFill>
                  <a:srgbClr val="8FC2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3200" b="1" spc="-10" dirty="0">
                <a:solidFill>
                  <a:srgbClr val="8FC2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10" dirty="0">
                <a:solidFill>
                  <a:srgbClr val="8FC2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2421" y="1674247"/>
            <a:ext cx="8786229" cy="2443361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77825" marR="149860" indent="-365760" algn="just">
              <a:lnSpc>
                <a:spcPct val="100600"/>
              </a:lnSpc>
              <a:spcBef>
                <a:spcPts val="85"/>
              </a:spcBef>
              <a:buClr>
                <a:srgbClr val="8FC225"/>
              </a:buClr>
              <a:buSzPct val="77777"/>
              <a:buFont typeface="Wingdings" panose="05000000000000000000" pitchFamily="2" charset="2"/>
              <a:buChar char="q"/>
              <a:tabLst>
                <a:tab pos="377825" algn="l"/>
                <a:tab pos="378460" algn="l"/>
              </a:tabLst>
            </a:pP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000" spc="2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sz="2000" b="1" spc="6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energy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comes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</a:t>
            </a:r>
            <a:r>
              <a:rPr sz="2000" spc="-484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travels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some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space.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7825" marR="5080" indent="-365760" algn="just">
              <a:lnSpc>
                <a:spcPct val="100600"/>
              </a:lnSpc>
              <a:spcBef>
                <a:spcPts val="969"/>
              </a:spcBef>
              <a:buClr>
                <a:srgbClr val="8FC225"/>
              </a:buClr>
              <a:buSzPct val="77777"/>
              <a:buFont typeface="Wingdings" panose="05000000000000000000" pitchFamily="2" charset="2"/>
              <a:buChar char="q"/>
              <a:tabLst>
                <a:tab pos="441325" algn="l"/>
                <a:tab pos="441959" algn="l"/>
              </a:tabLst>
            </a:pP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Light, heat,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sound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radiation.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very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definition,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484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kind of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discussed</a:t>
            </a:r>
            <a:r>
              <a:rPr lang="en-IN"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 is called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ionizing radiation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7825" marR="30480" indent="-365760" algn="just">
              <a:lnSpc>
                <a:spcPct val="100600"/>
              </a:lnSpc>
              <a:spcBef>
                <a:spcPts val="975"/>
              </a:spcBef>
              <a:buClr>
                <a:srgbClr val="8FC225"/>
              </a:buClr>
              <a:buSzPct val="77777"/>
              <a:buFont typeface="Wingdings" panose="05000000000000000000" pitchFamily="2" charset="2"/>
              <a:buChar char="q"/>
              <a:tabLst>
                <a:tab pos="441325" algn="l"/>
                <a:tab pos="441959" algn="l"/>
              </a:tabLst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people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 the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term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only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ionizing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radiation,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correct.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around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us.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</a:t>
            </a:r>
            <a:r>
              <a:rPr sz="2000" spc="-484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natural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energy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force that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surrounds us.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part of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natural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world that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 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been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 since the birth of our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planet.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C86CA-D7E2-4C5D-A747-41CCF3E60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7965" y="295147"/>
            <a:ext cx="7139940" cy="679742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IONIZATION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39AABA-7743-42D1-BAFC-0114551F3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2421" y="1066800"/>
            <a:ext cx="8557629" cy="3385542"/>
          </a:xfrm>
        </p:spPr>
        <p:txBody>
          <a:bodyPr/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Ionization, is a process by which electrically neutral atoms or molecules are converted to electrically charged atoms or molecules (ions) through gaining or losing electrons.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5F5FF903-A5EA-4D8C-820F-BBA91E38F9D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" y="1981200"/>
            <a:ext cx="9290048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824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09B6B-ABAB-4D85-8CCE-D509AB482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90" y="310858"/>
            <a:ext cx="8952160" cy="369332"/>
          </a:xfrm>
        </p:spPr>
        <p:txBody>
          <a:bodyPr/>
          <a:lstStyle/>
          <a:p>
            <a:pPr algn="ctr"/>
            <a:r>
              <a:rPr lang="el-GR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IN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l-GR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l-GR" sz="2400" b="1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1E0A5-592D-440E-B63E-420D0A1DF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2421" y="838200"/>
            <a:ext cx="8633829" cy="5242974"/>
          </a:xfrm>
        </p:spPr>
        <p:txBody>
          <a:bodyPr/>
          <a:lstStyle/>
          <a:p>
            <a:pPr marL="12700" algn="just">
              <a:lnSpc>
                <a:spcPct val="100000"/>
              </a:lnSpc>
              <a:spcBef>
                <a:spcPts val="105"/>
              </a:spcBef>
              <a:tabLst>
                <a:tab pos="241300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</a:t>
            </a:r>
            <a:r>
              <a:rPr lang="en-US" sz="20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Particles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indent="-228600" algn="just">
              <a:lnSpc>
                <a:spcPts val="2650"/>
              </a:lnSpc>
              <a:spcBef>
                <a:spcPts val="5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</a:t>
            </a:r>
            <a:r>
              <a:rPr lang="en-US"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(α)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</a:t>
            </a:r>
            <a:r>
              <a:rPr lang="en-US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largest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particle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least</a:t>
            </a:r>
            <a:r>
              <a:rPr lang="en-US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penetrative</a:t>
            </a:r>
            <a:r>
              <a:rPr lang="en-US"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power.</a:t>
            </a:r>
            <a:r>
              <a:rPr lang="en-US"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particles</a:t>
            </a:r>
            <a:r>
              <a:rPr lang="en-US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carry</a:t>
            </a:r>
            <a:r>
              <a:rPr lang="en-US"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charge.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</a:t>
            </a:r>
            <a:r>
              <a:rPr lang="en-US"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particle</a:t>
            </a:r>
            <a:r>
              <a:rPr lang="en-US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en-US"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neutrons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en-US"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protons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together.</a:t>
            </a:r>
            <a:r>
              <a:rPr lang="en-US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</a:t>
            </a:r>
            <a:r>
              <a:rPr lang="en-US"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particle</a:t>
            </a:r>
            <a:r>
              <a:rPr lang="en-US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later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got</a:t>
            </a:r>
            <a:r>
              <a:rPr lang="en-US"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</a:t>
            </a:r>
            <a:r>
              <a:rPr lang="en-US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sz="2000" spc="-5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helium-4</a:t>
            </a:r>
            <a:r>
              <a:rPr lang="en-US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nucleus.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indent="-228600" algn="just">
              <a:lnSpc>
                <a:spcPts val="2650"/>
              </a:lnSpc>
              <a:spcBef>
                <a:spcPts val="6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</a:t>
            </a:r>
            <a:r>
              <a:rPr lang="en-US"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particles</a:t>
            </a:r>
            <a:r>
              <a:rPr lang="en-US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en-US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greatest</a:t>
            </a:r>
            <a:r>
              <a:rPr lang="en-US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mass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among</a:t>
            </a:r>
            <a:r>
              <a:rPr lang="en-US"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</a:t>
            </a:r>
            <a:r>
              <a:rPr lang="en-US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  <a:r>
              <a:rPr lang="en-US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radioactive</a:t>
            </a:r>
            <a:r>
              <a:rPr lang="en-US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emissions.</a:t>
            </a:r>
            <a:r>
              <a:rPr lang="en-US"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mass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alpha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particle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</a:t>
            </a:r>
            <a:r>
              <a:rPr lang="en-US"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8000</a:t>
            </a:r>
            <a:r>
              <a:rPr lang="en-US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times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lang="en-US"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mass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beta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particle.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large</a:t>
            </a:r>
            <a:r>
              <a:rPr lang="en-US"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</a:t>
            </a:r>
            <a:r>
              <a:rPr lang="en-US"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spc="-5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penetrative</a:t>
            </a:r>
            <a:r>
              <a:rPr lang="en-US"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alpha</a:t>
            </a:r>
            <a:r>
              <a:rPr lang="en-US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particle.</a:t>
            </a:r>
          </a:p>
          <a:p>
            <a:pPr marL="12700" algn="just">
              <a:lnSpc>
                <a:spcPct val="100000"/>
              </a:lnSpc>
              <a:spcBef>
                <a:spcPts val="75"/>
              </a:spcBef>
              <a:tabLst>
                <a:tab pos="241300" algn="l"/>
              </a:tabLst>
            </a:pPr>
            <a:r>
              <a:rPr lang="en-US" sz="20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marL="12700" algn="just">
              <a:lnSpc>
                <a:spcPct val="100000"/>
              </a:lnSpc>
              <a:spcBef>
                <a:spcPts val="75"/>
              </a:spcBef>
              <a:tabLst>
                <a:tab pos="241300" algn="l"/>
              </a:tabLst>
            </a:pPr>
            <a:r>
              <a:rPr lang="en-US" sz="20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Beta</a:t>
            </a:r>
            <a:r>
              <a:rPr lang="en-US" sz="20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Particles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indent="-228600" algn="just">
              <a:lnSpc>
                <a:spcPts val="2650"/>
              </a:lnSpc>
              <a:spcBef>
                <a:spcPts val="6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Beta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particles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(β)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high-energy</a:t>
            </a:r>
            <a:r>
              <a:rPr lang="en-US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electrons</a:t>
            </a:r>
            <a:r>
              <a:rPr lang="en-US"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positrons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carry</a:t>
            </a:r>
            <a:r>
              <a:rPr lang="en-US"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charge.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Considerably smaller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 alpha particles, </a:t>
            </a:r>
            <a:r>
              <a:rPr lang="en-US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beta </a:t>
            </a:r>
            <a:r>
              <a:rPr lang="en-US" sz="2000" spc="-5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particles</a:t>
            </a:r>
            <a:r>
              <a:rPr lang="en-US"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en-US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</a:t>
            </a:r>
            <a:r>
              <a:rPr lang="en-US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penetrative</a:t>
            </a:r>
            <a:r>
              <a:rPr lang="en-US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power.</a:t>
            </a:r>
          </a:p>
          <a:p>
            <a:pPr marL="241300" marR="586105" algn="just">
              <a:lnSpc>
                <a:spcPct val="70000"/>
              </a:lnSpc>
              <a:spcBef>
                <a:spcPts val="465"/>
              </a:spcBef>
            </a:pPr>
            <a:endParaRPr lang="en-US" b="1"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586105" algn="just">
              <a:lnSpc>
                <a:spcPct val="70000"/>
              </a:lnSpc>
              <a:spcBef>
                <a:spcPts val="465"/>
              </a:spcBef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9314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7A7C7-42A5-4833-87DB-9AD58CCF8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90" y="310858"/>
            <a:ext cx="9028360" cy="369332"/>
          </a:xfrm>
        </p:spPr>
        <p:txBody>
          <a:bodyPr/>
          <a:lstStyle/>
          <a:p>
            <a:pPr algn="ctr"/>
            <a:r>
              <a:rPr lang="en-IN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Gamma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l-G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γ)</a:t>
            </a:r>
            <a:r>
              <a:rPr lang="en-IN" sz="2400" b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sz="2400" b="1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24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F25EF2-CF9E-4B72-A3CF-BB24BDF4A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2421" y="1066800"/>
            <a:ext cx="8786229" cy="3454279"/>
          </a:xfrm>
        </p:spPr>
        <p:txBody>
          <a:bodyPr/>
          <a:lstStyle/>
          <a:p>
            <a:pPr marL="241300" marR="275590" indent="-228600" algn="just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Gamma</a:t>
            </a:r>
            <a:r>
              <a:rPr lang="en-US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rays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(γ)</a:t>
            </a:r>
            <a:r>
              <a:rPr lang="en-US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particles</a:t>
            </a:r>
            <a:r>
              <a:rPr lang="en-US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mass.</a:t>
            </a:r>
            <a:r>
              <a:rPr lang="en-US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kind</a:t>
            </a:r>
            <a:r>
              <a:rPr lang="en-US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electromagnetic</a:t>
            </a:r>
            <a:r>
              <a:rPr lang="en-US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lang="en-US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en-US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considerably</a:t>
            </a:r>
            <a:r>
              <a:rPr lang="en-US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</a:t>
            </a:r>
            <a:r>
              <a:rPr lang="en-US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</a:t>
            </a:r>
            <a:r>
              <a:rPr lang="en-US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 </a:t>
            </a:r>
            <a:r>
              <a:rPr lang="en-US" spc="-6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x-rays.</a:t>
            </a:r>
            <a:r>
              <a:rPr lang="en-US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energy,</a:t>
            </a:r>
            <a:r>
              <a:rPr lang="en-US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gamma </a:t>
            </a:r>
            <a:r>
              <a:rPr lang="en-US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rays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en-US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mass.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118110" indent="-228600" algn="just">
              <a:lnSpc>
                <a:spcPts val="3020"/>
              </a:lnSpc>
              <a:spcBef>
                <a:spcPts val="1019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Gamma</a:t>
            </a:r>
            <a:r>
              <a:rPr lang="en-US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rays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lang="en-US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harmful</a:t>
            </a:r>
            <a:r>
              <a:rPr lang="en-US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humans</a:t>
            </a:r>
            <a:r>
              <a:rPr lang="en-US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lang="en-US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x-rays.</a:t>
            </a:r>
            <a:r>
              <a:rPr lang="en-US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charge </a:t>
            </a:r>
            <a:r>
              <a:rPr lang="en-US" spc="-6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gamma</a:t>
            </a:r>
            <a:r>
              <a:rPr lang="en-US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rays,</a:t>
            </a:r>
            <a:r>
              <a:rPr lang="en-US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neutral.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ct val="90000"/>
              </a:lnSpc>
              <a:spcBef>
                <a:spcPts val="960"/>
              </a:spcBef>
            </a:pP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(X-rays</a:t>
            </a:r>
            <a:r>
              <a:rPr lang="en-US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gamma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rays</a:t>
            </a:r>
            <a:r>
              <a:rPr lang="en-US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en-US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</a:t>
            </a:r>
            <a:r>
              <a:rPr lang="en-US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properties</a:t>
            </a:r>
            <a:r>
              <a:rPr lang="en-US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en-US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come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lang="en-US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parts</a:t>
            </a:r>
            <a:r>
              <a:rPr lang="en-US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X-rays</a:t>
            </a:r>
            <a:r>
              <a:rPr lang="en-US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emitted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</a:t>
            </a:r>
            <a:r>
              <a:rPr lang="en-US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outside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</a:t>
            </a:r>
            <a:r>
              <a:rPr lang="en-US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nucleus,</a:t>
            </a:r>
            <a:r>
              <a:rPr lang="en-US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en-US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gamma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rays</a:t>
            </a:r>
            <a:r>
              <a:rPr lang="en-US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</a:t>
            </a:r>
            <a:r>
              <a:rPr lang="en-US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nucleus.</a:t>
            </a:r>
            <a:r>
              <a:rPr lang="en-US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</a:t>
            </a:r>
            <a:r>
              <a:rPr lang="en-US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spc="-6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and,</a:t>
            </a:r>
            <a:r>
              <a:rPr lang="en-US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</a:t>
            </a:r>
            <a:r>
              <a:rPr lang="en-US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penetrating</a:t>
            </a:r>
            <a:r>
              <a:rPr lang="en-US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lang="en-US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gamma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rays)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2241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7856" y="721592"/>
            <a:ext cx="8220793" cy="382783"/>
          </a:xfrm>
          <a:prstGeom prst="rect">
            <a:avLst/>
          </a:prstGeom>
        </p:spPr>
        <p:txBody>
          <a:bodyPr vert="horz" wrap="square" lIns="0" tIns="13321" rIns="0" bIns="0" rtlCol="0">
            <a:spAutoFit/>
          </a:bodyPr>
          <a:lstStyle/>
          <a:p>
            <a:pPr marL="12687" algn="ctr">
              <a:spcBef>
                <a:spcPts val="105"/>
              </a:spcBef>
            </a:pPr>
            <a:r>
              <a:rPr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Exposure</a:t>
            </a:r>
            <a:r>
              <a:rPr sz="24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213" y="1600200"/>
            <a:ext cx="9327437" cy="320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703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5984" y="612613"/>
            <a:ext cx="8678865" cy="382783"/>
          </a:xfrm>
          <a:prstGeom prst="rect">
            <a:avLst/>
          </a:prstGeom>
        </p:spPr>
        <p:txBody>
          <a:bodyPr vert="horz" wrap="square" lIns="0" tIns="13321" rIns="0" bIns="0" rtlCol="0">
            <a:spAutoFit/>
          </a:bodyPr>
          <a:lstStyle/>
          <a:p>
            <a:pPr marL="12687" algn="ctr">
              <a:spcBef>
                <a:spcPts val="105"/>
              </a:spcBef>
            </a:pPr>
            <a:r>
              <a:rPr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Exposure</a:t>
            </a:r>
            <a:r>
              <a:rPr sz="24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9891" y="1523999"/>
            <a:ext cx="9047360" cy="19050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D235BF3-F969-45C4-8F4A-15AB60563002}"/>
              </a:ext>
            </a:extLst>
          </p:cNvPr>
          <p:cNvSpPr/>
          <p:nvPr/>
        </p:nvSpPr>
        <p:spPr>
          <a:xfrm>
            <a:off x="1593850" y="3612624"/>
            <a:ext cx="79247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Exposure</a:t>
            </a:r>
            <a:r>
              <a:rPr lang="en-US" sz="24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 and</a:t>
            </a:r>
            <a:r>
              <a:rPr lang="en-US"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Rays</a:t>
            </a:r>
            <a:endParaRPr lang="en-IN" sz="2400" dirty="0"/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AB560F7A-A048-42F0-A3F5-59C7381BCE6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5984" y="4385951"/>
            <a:ext cx="8831267" cy="182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813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228600"/>
            <a:ext cx="9290050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418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44166815-E539-44E9-8780-6DF42F37CAD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73583"/>
            <a:ext cx="9290050" cy="6784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713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4820" y="743712"/>
            <a:ext cx="7672070" cy="10134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algn="just">
              <a:lnSpc>
                <a:spcPct val="101499"/>
              </a:lnSpc>
              <a:spcBef>
                <a:spcPts val="80"/>
              </a:spcBef>
            </a:pPr>
            <a:r>
              <a:rPr sz="3200" spc="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Ionizing radiation</a:t>
            </a:r>
            <a:r>
              <a:rPr sz="3200" spc="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sz="3200" spc="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sz="3200" spc="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ionization </a:t>
            </a:r>
            <a:r>
              <a:rPr sz="3200" spc="-9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mechanisms</a:t>
            </a:r>
            <a:r>
              <a:rPr sz="3200" spc="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3200" spc="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may</a:t>
            </a:r>
            <a:r>
              <a:rPr sz="3200" spc="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3200" spc="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grouped</a:t>
            </a:r>
            <a:r>
              <a:rPr sz="3200" spc="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as:</a:t>
            </a:r>
            <a:endParaRPr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55915" y="2327746"/>
            <a:ext cx="128905" cy="67310"/>
          </a:xfrm>
          <a:custGeom>
            <a:avLst/>
            <a:gdLst/>
            <a:ahLst/>
            <a:cxnLst/>
            <a:rect l="l" t="t" r="r" b="b"/>
            <a:pathLst>
              <a:path w="128905" h="67310">
                <a:moveTo>
                  <a:pt x="0" y="66992"/>
                </a:moveTo>
                <a:lnTo>
                  <a:pt x="0" y="0"/>
                </a:lnTo>
                <a:lnTo>
                  <a:pt x="128542" y="33629"/>
                </a:lnTo>
                <a:lnTo>
                  <a:pt x="0" y="66992"/>
                </a:lnTo>
                <a:close/>
              </a:path>
            </a:pathLst>
          </a:custGeom>
          <a:solidFill>
            <a:srgbClr val="8F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65062" y="3270789"/>
            <a:ext cx="114300" cy="59690"/>
          </a:xfrm>
          <a:custGeom>
            <a:avLst/>
            <a:gdLst/>
            <a:ahLst/>
            <a:cxnLst/>
            <a:rect l="l" t="t" r="r" b="b"/>
            <a:pathLst>
              <a:path w="114300" h="59689">
                <a:moveTo>
                  <a:pt x="0" y="59548"/>
                </a:moveTo>
                <a:lnTo>
                  <a:pt x="0" y="0"/>
                </a:lnTo>
                <a:lnTo>
                  <a:pt x="114260" y="29893"/>
                </a:lnTo>
                <a:lnTo>
                  <a:pt x="0" y="59548"/>
                </a:lnTo>
                <a:close/>
              </a:path>
            </a:pathLst>
          </a:custGeom>
          <a:solidFill>
            <a:srgbClr val="8F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65062" y="3889269"/>
            <a:ext cx="114300" cy="59690"/>
          </a:xfrm>
          <a:custGeom>
            <a:avLst/>
            <a:gdLst/>
            <a:ahLst/>
            <a:cxnLst/>
            <a:rect l="l" t="t" r="r" b="b"/>
            <a:pathLst>
              <a:path w="114300" h="59689">
                <a:moveTo>
                  <a:pt x="0" y="59548"/>
                </a:moveTo>
                <a:lnTo>
                  <a:pt x="0" y="0"/>
                </a:lnTo>
                <a:lnTo>
                  <a:pt x="114260" y="29893"/>
                </a:lnTo>
                <a:lnTo>
                  <a:pt x="0" y="59548"/>
                </a:lnTo>
                <a:close/>
              </a:path>
            </a:pathLst>
          </a:custGeom>
          <a:solidFill>
            <a:srgbClr val="8F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32421" y="2181775"/>
            <a:ext cx="8356600" cy="2200218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065" marR="32384">
              <a:lnSpc>
                <a:spcPct val="100600"/>
              </a:lnSpc>
              <a:spcBef>
                <a:spcPts val="85"/>
              </a:spcBef>
              <a:buClr>
                <a:srgbClr val="000000"/>
              </a:buClr>
              <a:buSzPct val="77777"/>
              <a:tabLst>
                <a:tab pos="377825" algn="l"/>
                <a:tab pos="378460" algn="l"/>
              </a:tabLst>
            </a:pP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Directly ionizing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Charged particles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atomic </a:t>
            </a: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nuclei, electrons, positrons,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protons, muons,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etc.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ionize atoms directly through fundamental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 through the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Coulomb force if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carry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sufficient kinetic energy.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2275" marR="78105" lvl="1">
              <a:lnSpc>
                <a:spcPts val="1870"/>
              </a:lnSpc>
              <a:spcBef>
                <a:spcPts val="1140"/>
              </a:spcBef>
              <a:buClr>
                <a:srgbClr val="000000"/>
              </a:buClr>
              <a:buSzPct val="78125"/>
              <a:tabLst>
                <a:tab pos="777240" algn="l"/>
                <a:tab pos="777875" algn="l"/>
              </a:tabLst>
            </a:pPr>
            <a:r>
              <a:rPr b="1" spc="-5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Alpha</a:t>
            </a:r>
            <a:r>
              <a:rPr b="1" spc="10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consists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alpha</a:t>
            </a:r>
            <a:r>
              <a:rPr spc="15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particles</a:t>
            </a:r>
            <a:r>
              <a:rPr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energy/speed. </a:t>
            </a:r>
            <a:r>
              <a:rPr spc="-4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production of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 particles is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termed</a:t>
            </a:r>
            <a:r>
              <a:rPr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alpha </a:t>
            </a:r>
            <a:r>
              <a:rPr spc="10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decay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2275" marR="5080" lvl="1">
              <a:lnSpc>
                <a:spcPts val="1870"/>
              </a:lnSpc>
              <a:spcBef>
                <a:spcPts val="1130"/>
              </a:spcBef>
              <a:buClr>
                <a:srgbClr val="000000"/>
              </a:buClr>
              <a:buSzPct val="78125"/>
              <a:tabLst>
                <a:tab pos="777240" algn="l"/>
                <a:tab pos="777875" algn="l"/>
              </a:tabLst>
            </a:pPr>
            <a:r>
              <a:rPr b="1" spc="-5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Beta</a:t>
            </a:r>
            <a:r>
              <a:rPr b="1" spc="10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Beta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consists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free</a:t>
            </a:r>
            <a:r>
              <a:rPr spc="10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electrons</a:t>
            </a:r>
            <a:r>
              <a:rPr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positrons</a:t>
            </a:r>
            <a:r>
              <a:rPr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relativistic </a:t>
            </a:r>
            <a:r>
              <a:rPr spc="-4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speeds. The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of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beta particles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termed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beta</a:t>
            </a:r>
            <a:r>
              <a:rPr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decay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5258" y="622887"/>
            <a:ext cx="8839592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IN" sz="24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Distinguish</a:t>
            </a:r>
            <a:r>
              <a:rPr sz="2400" spc="-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en-IN" sz="24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Non-Ionizing and Ionizing Radiation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55915" y="1710162"/>
            <a:ext cx="128905" cy="67310"/>
          </a:xfrm>
          <a:custGeom>
            <a:avLst/>
            <a:gdLst/>
            <a:ahLst/>
            <a:cxnLst/>
            <a:rect l="l" t="t" r="r" b="b"/>
            <a:pathLst>
              <a:path w="128905" h="67310">
                <a:moveTo>
                  <a:pt x="0" y="66992"/>
                </a:moveTo>
                <a:lnTo>
                  <a:pt x="0" y="0"/>
                </a:lnTo>
                <a:lnTo>
                  <a:pt x="128542" y="33629"/>
                </a:lnTo>
                <a:lnTo>
                  <a:pt x="0" y="66992"/>
                </a:lnTo>
                <a:close/>
              </a:path>
            </a:pathLst>
          </a:custGeom>
          <a:solidFill>
            <a:srgbClr val="8F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55915" y="3765419"/>
            <a:ext cx="128905" cy="67310"/>
          </a:xfrm>
          <a:custGeom>
            <a:avLst/>
            <a:gdLst/>
            <a:ahLst/>
            <a:cxnLst/>
            <a:rect l="l" t="t" r="r" b="b"/>
            <a:pathLst>
              <a:path w="128905" h="67310">
                <a:moveTo>
                  <a:pt x="0" y="66992"/>
                </a:moveTo>
                <a:lnTo>
                  <a:pt x="0" y="0"/>
                </a:lnTo>
                <a:lnTo>
                  <a:pt x="128542" y="33629"/>
                </a:lnTo>
                <a:lnTo>
                  <a:pt x="0" y="66992"/>
                </a:lnTo>
                <a:close/>
              </a:path>
            </a:pathLst>
          </a:custGeom>
          <a:solidFill>
            <a:srgbClr val="8F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32421" y="1564191"/>
            <a:ext cx="8382000" cy="3540906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97815" marR="130175" indent="-285750" algn="just">
              <a:lnSpc>
                <a:spcPct val="100600"/>
              </a:lnSpc>
              <a:spcBef>
                <a:spcPts val="85"/>
              </a:spcBef>
              <a:buSzPct val="77777"/>
              <a:buFont typeface="Wingdings" panose="05000000000000000000" pitchFamily="2" charset="2"/>
              <a:buChar char="q"/>
              <a:tabLst>
                <a:tab pos="377825" algn="l"/>
                <a:tab pos="378460" algn="l"/>
              </a:tabLst>
            </a:pP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Non-ionizing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radiation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kinetic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particles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(photons</a:t>
            </a: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0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electrons, </a:t>
            </a:r>
            <a:r>
              <a:rPr sz="2000" b="1" spc="-5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etc.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non-ionizing radiation is</a:t>
            </a:r>
            <a:r>
              <a:rPr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 small to produce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charged ions</a:t>
            </a:r>
            <a:r>
              <a:rPr sz="2000" b="1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passing through matter. The particles (photons) have sufficient energy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the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rotational, vibrational,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electronic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valence configurations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molecules and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atoms. Sunlight, radio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waves, and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 phone signals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examples of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non-ionizing (photon) radiation.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</a:t>
            </a:r>
            <a:r>
              <a:rPr sz="2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still cause </a:t>
            </a:r>
            <a:r>
              <a:rPr sz="2000" b="1" spc="-5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harm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when you get a sunburn.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7815" marR="5080" indent="-285750" algn="just">
              <a:lnSpc>
                <a:spcPct val="100600"/>
              </a:lnSpc>
              <a:spcBef>
                <a:spcPts val="969"/>
              </a:spcBef>
              <a:buSzPct val="77777"/>
              <a:buFont typeface="Wingdings" panose="05000000000000000000" pitchFamily="2" charset="2"/>
              <a:buChar char="q"/>
              <a:tabLst>
                <a:tab pos="377825" algn="l"/>
                <a:tab pos="378460" algn="l"/>
              </a:tabLst>
            </a:pP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Ionizing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radiation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kinetic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particles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photons, </a:t>
            </a: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electrons,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etc.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sz="2000" spc="-5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ionizing</a:t>
            </a:r>
            <a:r>
              <a:rPr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00" b="1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sufficient,</a:t>
            </a:r>
            <a:r>
              <a:rPr sz="2000" b="1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b="1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b="1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particle</a:t>
            </a:r>
            <a:r>
              <a:rPr sz="2000" b="1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2000" b="1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ionize</a:t>
            </a:r>
            <a:r>
              <a:rPr sz="2000" b="1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(to</a:t>
            </a:r>
            <a:r>
              <a:rPr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ion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losing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electrons) target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form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ions.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Simply ionizing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knock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electrons from an atom.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5807" y="1611113"/>
            <a:ext cx="128905" cy="67310"/>
          </a:xfrm>
          <a:custGeom>
            <a:avLst/>
            <a:gdLst/>
            <a:ahLst/>
            <a:cxnLst/>
            <a:rect l="l" t="t" r="r" b="b"/>
            <a:pathLst>
              <a:path w="128904" h="67310">
                <a:moveTo>
                  <a:pt x="0" y="66992"/>
                </a:moveTo>
                <a:lnTo>
                  <a:pt x="0" y="0"/>
                </a:lnTo>
                <a:lnTo>
                  <a:pt x="128542" y="33629"/>
                </a:lnTo>
                <a:lnTo>
                  <a:pt x="0" y="66992"/>
                </a:lnTo>
                <a:close/>
              </a:path>
            </a:pathLst>
          </a:custGeom>
          <a:solidFill>
            <a:srgbClr val="8F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44954" y="2278219"/>
            <a:ext cx="114300" cy="59690"/>
          </a:xfrm>
          <a:custGeom>
            <a:avLst/>
            <a:gdLst/>
            <a:ahLst/>
            <a:cxnLst/>
            <a:rect l="l" t="t" r="r" b="b"/>
            <a:pathLst>
              <a:path w="114300" h="59689">
                <a:moveTo>
                  <a:pt x="0" y="59548"/>
                </a:moveTo>
                <a:lnTo>
                  <a:pt x="0" y="0"/>
                </a:lnTo>
                <a:lnTo>
                  <a:pt x="114260" y="29893"/>
                </a:lnTo>
                <a:lnTo>
                  <a:pt x="0" y="59548"/>
                </a:lnTo>
                <a:close/>
              </a:path>
            </a:pathLst>
          </a:custGeom>
          <a:solidFill>
            <a:srgbClr val="8F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44954" y="3391483"/>
            <a:ext cx="114300" cy="59690"/>
          </a:xfrm>
          <a:custGeom>
            <a:avLst/>
            <a:gdLst/>
            <a:ahLst/>
            <a:cxnLst/>
            <a:rect l="l" t="t" r="r" b="b"/>
            <a:pathLst>
              <a:path w="114300" h="59689">
                <a:moveTo>
                  <a:pt x="0" y="59548"/>
                </a:moveTo>
                <a:lnTo>
                  <a:pt x="0" y="0"/>
                </a:lnTo>
                <a:lnTo>
                  <a:pt x="114260" y="29893"/>
                </a:lnTo>
                <a:lnTo>
                  <a:pt x="0" y="59548"/>
                </a:lnTo>
                <a:close/>
              </a:path>
            </a:pathLst>
          </a:custGeom>
          <a:solidFill>
            <a:srgbClr val="8F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50850" y="315171"/>
            <a:ext cx="8848725" cy="2889637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77825" marR="61594" indent="-365760">
              <a:lnSpc>
                <a:spcPct val="100600"/>
              </a:lnSpc>
              <a:spcBef>
                <a:spcPts val="85"/>
              </a:spcBef>
              <a:buClr>
                <a:srgbClr val="000000"/>
              </a:buClr>
              <a:buSzPct val="77777"/>
              <a:buFont typeface="Wingdings" panose="05000000000000000000" pitchFamily="2" charset="2"/>
              <a:buChar char="q"/>
              <a:tabLst>
                <a:tab pos="377825" algn="l"/>
                <a:tab pos="378460" algn="l"/>
              </a:tabLst>
            </a:pPr>
            <a:r>
              <a:rPr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Indirectly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ionizing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Indirect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ionizing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electrically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neutral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particles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5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interact strongly with matter.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77240" marR="489584" lvl="1" indent="-354965">
              <a:lnSpc>
                <a:spcPts val="1870"/>
              </a:lnSpc>
              <a:spcBef>
                <a:spcPts val="1140"/>
              </a:spcBef>
              <a:buClr>
                <a:srgbClr val="000000"/>
              </a:buClr>
              <a:buSzPct val="78125"/>
              <a:buFont typeface="Wingdings" panose="05000000000000000000" pitchFamily="2" charset="2"/>
              <a:buChar char="q"/>
              <a:tabLst>
                <a:tab pos="777240" algn="l"/>
                <a:tab pos="777875" algn="l"/>
              </a:tabLst>
            </a:pPr>
            <a:r>
              <a:rPr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Photon</a:t>
            </a:r>
            <a:r>
              <a:rPr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b="1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Gamma</a:t>
            </a:r>
            <a:r>
              <a:rPr spc="5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rays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5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X-rays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Photon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consists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</a:t>
            </a:r>
            <a:r>
              <a:rPr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photons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definition,</a:t>
            </a:r>
            <a:r>
              <a:rPr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X-rays</a:t>
            </a:r>
            <a:r>
              <a:rPr b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b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emitted</a:t>
            </a:r>
            <a:r>
              <a:rPr b="1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62990" marR="5080" indent="-285750">
              <a:lnSpc>
                <a:spcPts val="1950"/>
              </a:lnSpc>
              <a:spcBef>
                <a:spcPts val="15"/>
              </a:spcBef>
              <a:buFont typeface="Wingdings" panose="05000000000000000000" pitchFamily="2" charset="2"/>
              <a:buChar char="q"/>
            </a:pPr>
            <a:r>
              <a:rPr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electrons</a:t>
            </a:r>
            <a:r>
              <a:rPr b="1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outside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nucleus,</a:t>
            </a:r>
            <a:r>
              <a:rPr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b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nucleus</a:t>
            </a:r>
            <a:r>
              <a:rPr b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emits</a:t>
            </a:r>
            <a:r>
              <a:rPr b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gamma</a:t>
            </a:r>
            <a:r>
              <a:rPr b="1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rays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pc="-4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gamma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rays is termed </a:t>
            </a:r>
            <a:r>
              <a:rPr spc="-5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gamma </a:t>
            </a:r>
            <a:r>
              <a:rPr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decay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77240" marR="59690" lvl="1" indent="-354965">
              <a:lnSpc>
                <a:spcPts val="1870"/>
              </a:lnSpc>
              <a:spcBef>
                <a:spcPts val="1110"/>
              </a:spcBef>
              <a:buClr>
                <a:srgbClr val="000000"/>
              </a:buClr>
              <a:buSzPct val="78125"/>
              <a:buFont typeface="Wingdings" panose="05000000000000000000" pitchFamily="2" charset="2"/>
              <a:buChar char="q"/>
              <a:tabLst>
                <a:tab pos="777240" algn="l"/>
                <a:tab pos="777875" algn="l"/>
              </a:tabLst>
            </a:pPr>
            <a:r>
              <a:rPr b="1" spc="-5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Neutron</a:t>
            </a:r>
            <a:r>
              <a:rPr b="1" spc="15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Neutron</a:t>
            </a:r>
            <a:r>
              <a:rPr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consists</a:t>
            </a:r>
            <a:r>
              <a:rPr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free</a:t>
            </a:r>
            <a:r>
              <a:rPr spc="15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neutrons</a:t>
            </a:r>
            <a:r>
              <a:rPr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</a:t>
            </a:r>
            <a:r>
              <a:rPr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energies/speeds. </a:t>
            </a:r>
            <a:r>
              <a:rPr spc="-4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type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produced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nuclear</a:t>
            </a:r>
            <a:r>
              <a:rPr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reactors</a:t>
            </a:r>
            <a:r>
              <a:rPr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flight.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77240">
              <a:lnSpc>
                <a:spcPts val="1895"/>
              </a:lnSpc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Neutrons</a:t>
            </a:r>
            <a:r>
              <a:rPr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contribute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r>
              <a:rPr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80%</a:t>
            </a:r>
            <a:r>
              <a:rPr b="1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equivalent</a:t>
            </a:r>
            <a:r>
              <a:rPr spc="5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dose.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10.5 Fission, Nuclear physics, By OpenStax (Page 2/9) | Jobilize">
            <a:extLst>
              <a:ext uri="{FF2B5EF4-FFF2-40B4-BE49-F238E27FC236}">
                <a16:creationId xmlns:a16="http://schemas.microsoft.com/office/drawing/2014/main" id="{F19D3302-C935-4495-BA9D-8A2A1F7843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2864696"/>
            <a:ext cx="8305800" cy="3993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5061" y="1298740"/>
            <a:ext cx="114300" cy="59690"/>
          </a:xfrm>
          <a:custGeom>
            <a:avLst/>
            <a:gdLst/>
            <a:ahLst/>
            <a:cxnLst/>
            <a:rect l="l" t="t" r="r" b="b"/>
            <a:pathLst>
              <a:path w="114300" h="59690">
                <a:moveTo>
                  <a:pt x="0" y="59548"/>
                </a:moveTo>
                <a:lnTo>
                  <a:pt x="0" y="0"/>
                </a:lnTo>
                <a:lnTo>
                  <a:pt x="114260" y="29893"/>
                </a:lnTo>
                <a:lnTo>
                  <a:pt x="0" y="59548"/>
                </a:lnTo>
                <a:close/>
              </a:path>
            </a:pathLst>
          </a:custGeom>
          <a:solidFill>
            <a:srgbClr val="8F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65061" y="1669827"/>
            <a:ext cx="114300" cy="59690"/>
          </a:xfrm>
          <a:custGeom>
            <a:avLst/>
            <a:gdLst/>
            <a:ahLst/>
            <a:cxnLst/>
            <a:rect l="l" t="t" r="r" b="b"/>
            <a:pathLst>
              <a:path w="114300" h="59689">
                <a:moveTo>
                  <a:pt x="0" y="59548"/>
                </a:moveTo>
                <a:lnTo>
                  <a:pt x="0" y="0"/>
                </a:lnTo>
                <a:lnTo>
                  <a:pt x="114260" y="29893"/>
                </a:lnTo>
                <a:lnTo>
                  <a:pt x="0" y="59548"/>
                </a:lnTo>
                <a:close/>
              </a:path>
            </a:pathLst>
          </a:custGeom>
          <a:solidFill>
            <a:srgbClr val="8F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65061" y="2288308"/>
            <a:ext cx="114300" cy="59690"/>
          </a:xfrm>
          <a:custGeom>
            <a:avLst/>
            <a:gdLst/>
            <a:ahLst/>
            <a:cxnLst/>
            <a:rect l="l" t="t" r="r" b="b"/>
            <a:pathLst>
              <a:path w="114300" h="59689">
                <a:moveTo>
                  <a:pt x="0" y="59548"/>
                </a:moveTo>
                <a:lnTo>
                  <a:pt x="0" y="0"/>
                </a:lnTo>
                <a:lnTo>
                  <a:pt x="114260" y="29893"/>
                </a:lnTo>
                <a:lnTo>
                  <a:pt x="0" y="59548"/>
                </a:lnTo>
                <a:close/>
              </a:path>
            </a:pathLst>
          </a:custGeom>
          <a:solidFill>
            <a:srgbClr val="8F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32420" y="485663"/>
            <a:ext cx="9093835" cy="2748573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97815" marR="229870" indent="-285750">
              <a:lnSpc>
                <a:spcPct val="100600"/>
              </a:lnSpc>
              <a:spcBef>
                <a:spcPts val="85"/>
              </a:spcBef>
              <a:buClr>
                <a:srgbClr val="8FC225"/>
              </a:buClr>
              <a:buSzPct val="77777"/>
              <a:buFont typeface="Wingdings" panose="05000000000000000000" pitchFamily="2" charset="2"/>
              <a:buChar char="q"/>
              <a:tabLst>
                <a:tab pos="377825" algn="l"/>
                <a:tab pos="378460" algn="l"/>
              </a:tabLst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 detectors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spc="-5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08025" lvl="1" indent="-285750">
              <a:lnSpc>
                <a:spcPct val="100000"/>
              </a:lnSpc>
              <a:spcBef>
                <a:spcPts val="1035"/>
              </a:spcBef>
              <a:buClr>
                <a:srgbClr val="000000"/>
              </a:buClr>
              <a:buSzPct val="78125"/>
              <a:buFont typeface="Wingdings" panose="05000000000000000000" pitchFamily="2" charset="2"/>
              <a:buChar char="q"/>
              <a:tabLst>
                <a:tab pos="777240" algn="l"/>
                <a:tab pos="777875" algn="l"/>
              </a:tabLst>
            </a:pPr>
            <a:r>
              <a:rPr sz="2000" b="1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Counter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activity</a:t>
            </a:r>
            <a:r>
              <a:rPr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intensity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measured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counts</a:t>
            </a:r>
            <a:r>
              <a:rPr sz="20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</a:t>
            </a:r>
            <a:r>
              <a:rPr sz="2000" b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</a:t>
            </a:r>
            <a:r>
              <a:rPr sz="2000" b="1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(cps).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08025" marR="398145" lvl="1" indent="-285750">
              <a:lnSpc>
                <a:spcPts val="1870"/>
              </a:lnSpc>
              <a:spcBef>
                <a:spcPts val="1105"/>
              </a:spcBef>
              <a:buClr>
                <a:srgbClr val="000000"/>
              </a:buClr>
              <a:buSzPct val="78125"/>
              <a:buFont typeface="Wingdings" panose="05000000000000000000" pitchFamily="2" charset="2"/>
              <a:buChar char="q"/>
              <a:tabLst>
                <a:tab pos="777240" algn="l"/>
                <a:tab pos="777875" algn="l"/>
              </a:tabLst>
            </a:pPr>
            <a:r>
              <a:rPr sz="2000" b="1" spc="-5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sz="2000" b="1" spc="10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Spectrometer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Spectrometers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devices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spectral </a:t>
            </a:r>
            <a:r>
              <a:rPr sz="2000" spc="-4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distribution of a source.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08025" lvl="1" indent="-285750">
              <a:lnSpc>
                <a:spcPct val="100000"/>
              </a:lnSpc>
              <a:spcBef>
                <a:spcPts val="1025"/>
              </a:spcBef>
              <a:buClr>
                <a:srgbClr val="000000"/>
              </a:buClr>
              <a:buSzPct val="78125"/>
              <a:buFont typeface="Wingdings" panose="05000000000000000000" pitchFamily="2" charset="2"/>
              <a:buChar char="q"/>
              <a:tabLst>
                <a:tab pos="777240" algn="l"/>
                <a:tab pos="777875" algn="l"/>
              </a:tabLst>
            </a:pPr>
            <a:r>
              <a:rPr sz="2000" b="1" spc="-5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Dosimeter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dosimeter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exposure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ionizing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radiation.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65061" y="3801205"/>
            <a:ext cx="114300" cy="59690"/>
          </a:xfrm>
          <a:custGeom>
            <a:avLst/>
            <a:gdLst/>
            <a:ahLst/>
            <a:cxnLst/>
            <a:rect l="l" t="t" r="r" b="b"/>
            <a:pathLst>
              <a:path w="114300" h="59689">
                <a:moveTo>
                  <a:pt x="0" y="59548"/>
                </a:moveTo>
                <a:lnTo>
                  <a:pt x="0" y="0"/>
                </a:lnTo>
                <a:lnTo>
                  <a:pt x="114260" y="29893"/>
                </a:lnTo>
                <a:lnTo>
                  <a:pt x="0" y="59548"/>
                </a:lnTo>
                <a:close/>
              </a:path>
            </a:pathLst>
          </a:custGeom>
          <a:solidFill>
            <a:srgbClr val="8F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65061" y="4419685"/>
            <a:ext cx="114300" cy="59690"/>
          </a:xfrm>
          <a:custGeom>
            <a:avLst/>
            <a:gdLst/>
            <a:ahLst/>
            <a:cxnLst/>
            <a:rect l="l" t="t" r="r" b="b"/>
            <a:pathLst>
              <a:path w="114300" h="59689">
                <a:moveTo>
                  <a:pt x="0" y="59548"/>
                </a:moveTo>
                <a:lnTo>
                  <a:pt x="0" y="0"/>
                </a:lnTo>
                <a:lnTo>
                  <a:pt x="114260" y="29893"/>
                </a:lnTo>
                <a:lnTo>
                  <a:pt x="0" y="59548"/>
                </a:lnTo>
                <a:close/>
              </a:path>
            </a:pathLst>
          </a:custGeom>
          <a:solidFill>
            <a:srgbClr val="8F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32420" y="3115630"/>
            <a:ext cx="9288145" cy="1970411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297815" indent="-285750" algn="just">
              <a:lnSpc>
                <a:spcPct val="100000"/>
              </a:lnSpc>
              <a:spcBef>
                <a:spcPts val="1265"/>
              </a:spcBef>
              <a:buClr>
                <a:srgbClr val="8FC225"/>
              </a:buClr>
              <a:buSzPct val="77777"/>
              <a:buFont typeface="Wingdings" panose="05000000000000000000" pitchFamily="2" charset="2"/>
              <a:buChar char="q"/>
              <a:tabLst>
                <a:tab pos="377825" algn="l"/>
                <a:tab pos="378460" algn="l"/>
              </a:tabLst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general, there are two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broad categories of</a:t>
            </a:r>
            <a:r>
              <a:rPr sz="2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 </a:t>
            </a:r>
            <a:r>
              <a:rPr sz="2000" b="1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sources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08025" marR="5080" lvl="1" indent="-285750" algn="just">
              <a:lnSpc>
                <a:spcPts val="1870"/>
              </a:lnSpc>
              <a:spcBef>
                <a:spcPts val="1140"/>
              </a:spcBef>
              <a:buClr>
                <a:srgbClr val="000000"/>
              </a:buClr>
              <a:buSzPct val="78125"/>
              <a:buFont typeface="Wingdings" panose="05000000000000000000" pitchFamily="2" charset="2"/>
              <a:buChar char="q"/>
              <a:tabLst>
                <a:tab pos="777240" algn="l"/>
                <a:tab pos="777875" algn="l"/>
              </a:tabLst>
            </a:pPr>
            <a:r>
              <a:rPr sz="2000" b="1" spc="-5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Natural</a:t>
            </a:r>
            <a:r>
              <a:rPr sz="2000" b="1" spc="15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r>
              <a:rPr sz="2000" b="1" spc="15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produced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sz="2000" spc="-4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Sun,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lightning,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primordial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radioisotopes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supernova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explosions,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etc.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08025" marR="590550" lvl="1" indent="-285750" algn="just">
              <a:lnSpc>
                <a:spcPts val="1870"/>
              </a:lnSpc>
              <a:spcBef>
                <a:spcPts val="1130"/>
              </a:spcBef>
              <a:buClr>
                <a:srgbClr val="000000"/>
              </a:buClr>
              <a:buSzPct val="78125"/>
              <a:buFont typeface="Wingdings" panose="05000000000000000000" pitchFamily="2" charset="2"/>
              <a:buChar char="q"/>
              <a:tabLst>
                <a:tab pos="777240" algn="l"/>
                <a:tab pos="777875" algn="l"/>
              </a:tabLst>
            </a:pPr>
            <a:r>
              <a:rPr sz="2000" b="1" spc="-5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Man-Made</a:t>
            </a:r>
            <a:r>
              <a:rPr sz="2000" b="1" spc="10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Sources</a:t>
            </a:r>
            <a:r>
              <a:rPr sz="2000" b="1" spc="15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b="1" spc="10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Man-made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sources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radiation, </a:t>
            </a:r>
            <a:r>
              <a:rPr sz="2000" spc="-4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residues from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nuclear tests,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uses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radiation,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etc.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5258" y="622887"/>
            <a:ext cx="7289165" cy="574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5" dirty="0">
                <a:solidFill>
                  <a:srgbClr val="8FC225"/>
                </a:solidFill>
                <a:latin typeface="Trebuchet MS"/>
                <a:cs typeface="Trebuchet MS"/>
              </a:rPr>
              <a:t>Effects</a:t>
            </a:r>
            <a:r>
              <a:rPr sz="3600" spc="-15" dirty="0">
                <a:solidFill>
                  <a:srgbClr val="8FC225"/>
                </a:solidFill>
                <a:latin typeface="Trebuchet MS"/>
                <a:cs typeface="Trebuchet MS"/>
              </a:rPr>
              <a:t> </a:t>
            </a:r>
            <a:r>
              <a:rPr sz="3600" spc="-5" dirty="0">
                <a:solidFill>
                  <a:srgbClr val="8FC225"/>
                </a:solidFill>
                <a:latin typeface="Trebuchet MS"/>
                <a:cs typeface="Trebuchet MS"/>
              </a:rPr>
              <a:t>of</a:t>
            </a:r>
            <a:r>
              <a:rPr sz="3600" spc="-15" dirty="0">
                <a:solidFill>
                  <a:srgbClr val="8FC225"/>
                </a:solidFill>
                <a:latin typeface="Trebuchet MS"/>
                <a:cs typeface="Trebuchet MS"/>
              </a:rPr>
              <a:t> </a:t>
            </a:r>
            <a:r>
              <a:rPr sz="3600" spc="-5" dirty="0">
                <a:solidFill>
                  <a:srgbClr val="8FC225"/>
                </a:solidFill>
                <a:latin typeface="Trebuchet MS"/>
                <a:cs typeface="Trebuchet MS"/>
              </a:rPr>
              <a:t>radiation</a:t>
            </a:r>
            <a:r>
              <a:rPr sz="3600" spc="-15" dirty="0">
                <a:solidFill>
                  <a:srgbClr val="8FC225"/>
                </a:solidFill>
                <a:latin typeface="Trebuchet MS"/>
                <a:cs typeface="Trebuchet MS"/>
              </a:rPr>
              <a:t> </a:t>
            </a:r>
            <a:r>
              <a:rPr sz="3600" spc="-5" dirty="0">
                <a:solidFill>
                  <a:srgbClr val="8FC225"/>
                </a:solidFill>
                <a:latin typeface="Trebuchet MS"/>
                <a:cs typeface="Trebuchet MS"/>
              </a:rPr>
              <a:t>on</a:t>
            </a:r>
            <a:r>
              <a:rPr sz="3600" spc="-15" dirty="0">
                <a:solidFill>
                  <a:srgbClr val="8FC225"/>
                </a:solidFill>
                <a:latin typeface="Trebuchet MS"/>
                <a:cs typeface="Trebuchet MS"/>
              </a:rPr>
              <a:t> </a:t>
            </a:r>
            <a:r>
              <a:rPr sz="3600" spc="-5" dirty="0">
                <a:solidFill>
                  <a:srgbClr val="8FC225"/>
                </a:solidFill>
                <a:latin typeface="Trebuchet MS"/>
                <a:cs typeface="Trebuchet MS"/>
              </a:rPr>
              <a:t>Human</a:t>
            </a:r>
            <a:r>
              <a:rPr sz="3600" spc="-15" dirty="0">
                <a:solidFill>
                  <a:srgbClr val="8FC225"/>
                </a:solidFill>
                <a:latin typeface="Trebuchet MS"/>
                <a:cs typeface="Trebuchet MS"/>
              </a:rPr>
              <a:t> </a:t>
            </a:r>
            <a:r>
              <a:rPr sz="3600" spc="-10" dirty="0">
                <a:solidFill>
                  <a:srgbClr val="8FC225"/>
                </a:solidFill>
                <a:latin typeface="Trebuchet MS"/>
                <a:cs typeface="Trebuchet MS"/>
              </a:rPr>
              <a:t>body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2421" y="2181775"/>
            <a:ext cx="8307070" cy="152717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77825" marR="53340" indent="-365760">
              <a:lnSpc>
                <a:spcPct val="100600"/>
              </a:lnSpc>
              <a:spcBef>
                <a:spcPts val="85"/>
              </a:spcBef>
              <a:buClr>
                <a:srgbClr val="8FC225"/>
              </a:buClr>
              <a:buSzPct val="77777"/>
              <a:buFont typeface="Lucida Sans Unicode"/>
              <a:buChar char="►"/>
              <a:tabLst>
                <a:tab pos="377825" algn="l"/>
                <a:tab pos="378460" algn="l"/>
              </a:tabLst>
            </a:pPr>
            <a:r>
              <a:rPr sz="1800" spc="-5" dirty="0">
                <a:solidFill>
                  <a:srgbClr val="3F3F3F"/>
                </a:solidFill>
                <a:latin typeface="Trebuchet MS"/>
                <a:cs typeface="Trebuchet MS"/>
              </a:rPr>
              <a:t>The Incredible Hulk, Daredevil, the Flash … what do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Trebuchet MS"/>
                <a:cs typeface="Trebuchet MS"/>
              </a:rPr>
              <a:t>all of these superheroes </a:t>
            </a:r>
            <a:r>
              <a:rPr sz="1800" spc="-53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Trebuchet MS"/>
                <a:cs typeface="Trebuchet MS"/>
              </a:rPr>
              <a:t>have in common? They all got their powers through radiation!</a:t>
            </a:r>
            <a:endParaRPr sz="1800">
              <a:latin typeface="Trebuchet MS"/>
              <a:cs typeface="Trebuchet MS"/>
            </a:endParaRPr>
          </a:p>
          <a:p>
            <a:pPr marL="377825" marR="5080" indent="-365760">
              <a:lnSpc>
                <a:spcPct val="100600"/>
              </a:lnSpc>
              <a:spcBef>
                <a:spcPts val="969"/>
              </a:spcBef>
              <a:buClr>
                <a:srgbClr val="8FC225"/>
              </a:buClr>
              <a:buSzPct val="77777"/>
              <a:buFont typeface="Lucida Sans Unicode"/>
              <a:buChar char="►"/>
              <a:tabLst>
                <a:tab pos="377825" algn="l"/>
                <a:tab pos="378460" algn="l"/>
              </a:tabLst>
            </a:pPr>
            <a:r>
              <a:rPr sz="1800" spc="-5" dirty="0">
                <a:solidFill>
                  <a:srgbClr val="3F3F3F"/>
                </a:solidFill>
                <a:latin typeface="Trebuchet MS"/>
                <a:cs typeface="Trebuchet MS"/>
              </a:rPr>
              <a:t>In real life, exposure to radiation can cause all kinds of effects.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Trebuchet MS"/>
                <a:cs typeface="Trebuchet MS"/>
              </a:rPr>
              <a:t>Unfortunately, scientists have learned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Trebuchet MS"/>
                <a:cs typeface="Trebuchet MS"/>
              </a:rPr>
              <a:t>that gaining superpowers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Trebuchet MS"/>
                <a:cs typeface="Trebuchet MS"/>
              </a:rPr>
              <a:t>is not one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Trebuchet MS"/>
                <a:cs typeface="Trebuchet MS"/>
              </a:rPr>
              <a:t>of </a:t>
            </a:r>
            <a:r>
              <a:rPr sz="1800" spc="-53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Trebuchet MS"/>
                <a:cs typeface="Trebuchet MS"/>
              </a:rPr>
              <a:t>them. Instead, effects can range from mild burns to lethal cancers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4650" y="304800"/>
            <a:ext cx="879976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Several</a:t>
            </a:r>
            <a:r>
              <a:rPr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factors </a:t>
            </a:r>
            <a:r>
              <a:rPr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affect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the</a:t>
            </a:r>
            <a:r>
              <a:rPr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human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body reacts</a:t>
            </a:r>
            <a:r>
              <a:rPr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spc="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chemeClr val="tx1"/>
                </a:solidFill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ionizing</a:t>
            </a:r>
            <a:r>
              <a:rPr sz="2000" spc="-10" dirty="0">
                <a:solidFill>
                  <a:schemeClr val="tx1"/>
                </a:solidFill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chemeClr val="tx1"/>
                </a:solidFill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7050" y="1143000"/>
            <a:ext cx="4770120" cy="3040576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288925">
              <a:lnSpc>
                <a:spcPct val="100000"/>
              </a:lnSpc>
              <a:spcBef>
                <a:spcPts val="1010"/>
              </a:spcBef>
            </a:pP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sz="2000" spc="-5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include: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lnSpc>
                <a:spcPct val="100000"/>
              </a:lnSpc>
              <a:spcBef>
                <a:spcPts val="1010"/>
              </a:spcBef>
              <a:buClr>
                <a:srgbClr val="8FC225"/>
              </a:buClr>
              <a:buSzPct val="77777"/>
              <a:buFont typeface="Wingdings" panose="05000000000000000000" pitchFamily="2" charset="2"/>
              <a:buChar char="q"/>
              <a:tabLst>
                <a:tab pos="377825" algn="l"/>
                <a:tab pos="378460" algn="l"/>
              </a:tabLst>
            </a:pPr>
            <a:r>
              <a:rPr lang="en-IN"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sz="2000" spc="7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solidFill>
                  <a:srgbClr val="53A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dosage</a:t>
            </a:r>
            <a:r>
              <a:rPr sz="2000" b="1" spc="-20" dirty="0">
                <a:solidFill>
                  <a:srgbClr val="53A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(amount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received)</a:t>
            </a:r>
            <a:r>
              <a:rPr lang="en-IN"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lnSpc>
                <a:spcPct val="100000"/>
              </a:lnSpc>
              <a:spcBef>
                <a:spcPts val="969"/>
              </a:spcBef>
              <a:buClr>
                <a:srgbClr val="8FC225"/>
              </a:buClr>
              <a:buSzPct val="77777"/>
              <a:buFont typeface="Wingdings" panose="05000000000000000000" pitchFamily="2" charset="2"/>
              <a:buChar char="q"/>
              <a:tabLst>
                <a:tab pos="377825" algn="l"/>
                <a:tab pos="378460" algn="l"/>
              </a:tabLst>
            </a:pPr>
            <a:r>
              <a:rPr lang="en-IN"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sz="2000" spc="6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solidFill>
                  <a:srgbClr val="53A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sz="2000" b="1" spc="-30" dirty="0">
                <a:solidFill>
                  <a:srgbClr val="53A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sz="2000" spc="-1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dose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00" spc="-1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received</a:t>
            </a:r>
            <a:r>
              <a:rPr lang="en-IN"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lnSpc>
                <a:spcPct val="100000"/>
              </a:lnSpc>
              <a:spcBef>
                <a:spcPts val="975"/>
              </a:spcBef>
              <a:buClr>
                <a:srgbClr val="8FC225"/>
              </a:buClr>
              <a:buSzPct val="77777"/>
              <a:buFont typeface="Wingdings" panose="05000000000000000000" pitchFamily="2" charset="2"/>
              <a:buChar char="q"/>
              <a:tabLst>
                <a:tab pos="377825" algn="l"/>
                <a:tab pos="378460" algn="l"/>
              </a:tabLst>
            </a:pPr>
            <a:r>
              <a:rPr lang="en-IN"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sz="2000" spc="5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solidFill>
                  <a:srgbClr val="53A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cells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000" spc="-2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000" spc="-2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affected</a:t>
            </a:r>
            <a:r>
              <a:rPr lang="en-IN"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lnSpc>
                <a:spcPct val="100000"/>
              </a:lnSpc>
              <a:spcBef>
                <a:spcPts val="969"/>
              </a:spcBef>
              <a:buClr>
                <a:srgbClr val="8FC225"/>
              </a:buClr>
              <a:buSzPct val="77777"/>
              <a:buFont typeface="Wingdings" panose="05000000000000000000" pitchFamily="2" charset="2"/>
              <a:buChar char="q"/>
              <a:tabLst>
                <a:tab pos="377825" algn="l"/>
                <a:tab pos="378460" algn="l"/>
              </a:tabLst>
            </a:pPr>
            <a:r>
              <a:rPr lang="en-IN"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sz="2000" spc="6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solidFill>
                  <a:srgbClr val="53A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</a:t>
            </a:r>
            <a:r>
              <a:rPr sz="2000" b="1" spc="-15" dirty="0">
                <a:solidFill>
                  <a:srgbClr val="53A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solidFill>
                  <a:srgbClr val="53A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b="1" spc="-15" dirty="0">
                <a:solidFill>
                  <a:srgbClr val="53A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solidFill>
                  <a:srgbClr val="53A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b="1" spc="-10" dirty="0">
                <a:solidFill>
                  <a:srgbClr val="53A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solidFill>
                  <a:srgbClr val="53A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body</a:t>
            </a:r>
            <a:r>
              <a:rPr sz="2000" b="1" spc="25" dirty="0">
                <a:solidFill>
                  <a:srgbClr val="53A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000" spc="-1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affected</a:t>
            </a:r>
            <a:r>
              <a:rPr lang="en-IN"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lnSpc>
                <a:spcPct val="100000"/>
              </a:lnSpc>
              <a:spcBef>
                <a:spcPts val="944"/>
              </a:spcBef>
              <a:buClr>
                <a:srgbClr val="8FC225"/>
              </a:buClr>
              <a:buSzPct val="77777"/>
              <a:buFont typeface="Wingdings" panose="05000000000000000000" pitchFamily="2" charset="2"/>
              <a:buChar char="q"/>
              <a:tabLst>
                <a:tab pos="377825" algn="l"/>
                <a:tab pos="378460" algn="l"/>
              </a:tabLst>
            </a:pPr>
            <a:r>
              <a:rPr lang="en-IN"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sz="2000" spc="-2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sz="2000" spc="-1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solidFill>
                  <a:srgbClr val="53A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lang="en-IN" sz="2000" b="1" spc="-10" dirty="0">
                <a:solidFill>
                  <a:srgbClr val="53A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lnSpc>
                <a:spcPct val="100000"/>
              </a:lnSpc>
              <a:spcBef>
                <a:spcPts val="990"/>
              </a:spcBef>
              <a:buClr>
                <a:srgbClr val="8FC225"/>
              </a:buClr>
              <a:buSzPct val="77777"/>
              <a:buFont typeface="Wingdings" panose="05000000000000000000" pitchFamily="2" charset="2"/>
              <a:buChar char="q"/>
              <a:tabLst>
                <a:tab pos="377825" algn="l"/>
                <a:tab pos="378460" algn="l"/>
              </a:tabLst>
            </a:pPr>
            <a:r>
              <a:rPr lang="en-IN"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sz="2000" spc="6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solidFill>
                  <a:srgbClr val="53A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sz="2000" b="1" spc="40" dirty="0">
                <a:solidFill>
                  <a:srgbClr val="53A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4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solidFill>
                  <a:srgbClr val="53A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health</a:t>
            </a:r>
            <a:r>
              <a:rPr sz="2000" b="1" spc="45" dirty="0">
                <a:solidFill>
                  <a:srgbClr val="53A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person</a:t>
            </a:r>
            <a:r>
              <a:rPr lang="en-IN"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56250" y="656182"/>
            <a:ext cx="6623050" cy="620181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98650" y="1366468"/>
            <a:ext cx="54102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lethal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dose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radiation?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7051" y="2515356"/>
            <a:ext cx="7516628" cy="3377207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297815" marR="558165" indent="-285750" algn="just">
              <a:lnSpc>
                <a:spcPts val="1950"/>
              </a:lnSpc>
              <a:spcBef>
                <a:spcPts val="335"/>
              </a:spcBef>
              <a:buClr>
                <a:srgbClr val="8FC225"/>
              </a:buClr>
              <a:buSzPct val="77777"/>
              <a:buFont typeface="Wingdings" panose="05000000000000000000" pitchFamily="2" charset="2"/>
              <a:buChar char="q"/>
              <a:tabLst>
                <a:tab pos="377825" algn="l"/>
                <a:tab pos="378460" algn="l"/>
              </a:tabLst>
            </a:pP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Scientists calculate the lethal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dose of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the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</a:t>
            </a:r>
            <a:r>
              <a:rPr sz="2000" spc="-484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deaths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 a period of time after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exposure.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7815" marR="5080" indent="-285750" algn="just">
              <a:lnSpc>
                <a:spcPts val="1950"/>
              </a:lnSpc>
              <a:spcBef>
                <a:spcPts val="969"/>
              </a:spcBef>
              <a:buClr>
                <a:srgbClr val="8FC225"/>
              </a:buClr>
              <a:buSzPct val="77777"/>
              <a:buFont typeface="Wingdings" panose="05000000000000000000" pitchFamily="2" charset="2"/>
              <a:buChar char="q"/>
              <a:tabLst>
                <a:tab pos="377825" algn="l"/>
                <a:tab pos="378460" algn="l"/>
              </a:tabLst>
            </a:pP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Ionizing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measured with a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Geiger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counter in units called</a:t>
            </a:r>
            <a:r>
              <a:rPr sz="2000" spc="6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Sieverts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lethal dose of ionizing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expected to cause 50 percent of an exposed 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population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die within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days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following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3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exposure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lethal dose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about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4-5 </a:t>
            </a:r>
            <a:r>
              <a:rPr sz="2000" spc="-484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sieverts.</a:t>
            </a:r>
            <a:r>
              <a:rPr sz="2000" spc="4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00" spc="4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Canada,</a:t>
            </a:r>
            <a:r>
              <a:rPr sz="2000" spc="4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4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recommended</a:t>
            </a:r>
            <a:r>
              <a:rPr sz="2000" spc="4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</a:t>
            </a:r>
            <a:r>
              <a:rPr sz="2000" spc="4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4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exposure</a:t>
            </a:r>
            <a:r>
              <a:rPr sz="2000" spc="4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spc="4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ionizing</a:t>
            </a:r>
            <a:r>
              <a:rPr sz="2000" spc="4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sz="2000" spc="4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millisievert per </a:t>
            </a:r>
            <a:r>
              <a:rPr sz="2000" spc="-2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year,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0.001 sieverts.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That’s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4000 times lower than a lethal 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dose!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7815" marR="128905" indent="-285750" algn="just">
              <a:lnSpc>
                <a:spcPts val="1950"/>
              </a:lnSpc>
              <a:spcBef>
                <a:spcPts val="965"/>
              </a:spcBef>
              <a:buClr>
                <a:srgbClr val="8FC225"/>
              </a:buClr>
              <a:buSzPct val="77777"/>
              <a:buFont typeface="Wingdings" panose="05000000000000000000" pitchFamily="2" charset="2"/>
              <a:buChar char="q"/>
              <a:tabLst>
                <a:tab pos="377825" algn="l"/>
                <a:tab pos="378460" algn="l"/>
              </a:tabLst>
            </a:pPr>
            <a:r>
              <a:rPr sz="2000" spc="-3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Very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high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doses of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tend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result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immediate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death.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However, </a:t>
            </a:r>
            <a:r>
              <a:rPr sz="2000" spc="-1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can result in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skin burns, hair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loss, vomiting, </a:t>
            </a:r>
            <a:r>
              <a:rPr sz="2000" spc="-2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sterility,</a:t>
            </a:r>
            <a:r>
              <a:rPr lang="en-IN" sz="2000" spc="-2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cancers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</a:t>
            </a:r>
            <a:r>
              <a:rPr sz="2000" spc="7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cataracts</a:t>
            </a:r>
            <a:r>
              <a:rPr sz="2000" b="1" spc="4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(clouding </a:t>
            </a:r>
            <a:r>
              <a:rPr sz="2000" spc="-484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lens of the eye)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Radiation | Nuclear Radiation | Ionizing Radiation | Health Effects - World  Nuclear Association">
            <a:extLst>
              <a:ext uri="{FF2B5EF4-FFF2-40B4-BE49-F238E27FC236}">
                <a16:creationId xmlns:a16="http://schemas.microsoft.com/office/drawing/2014/main" id="{17B21A8A-DF1D-4161-B1C4-DCC0DCBBAC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050" y="1676400"/>
            <a:ext cx="4032250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8695" y="838200"/>
            <a:ext cx="8153793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acute effects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exposure?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38695" y="1600200"/>
            <a:ext cx="7643230" cy="2608343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97815" marR="5080" indent="-285750" algn="just">
              <a:lnSpc>
                <a:spcPct val="100600"/>
              </a:lnSpc>
              <a:spcBef>
                <a:spcPts val="85"/>
              </a:spcBef>
              <a:buClr>
                <a:srgbClr val="000000"/>
              </a:buClr>
              <a:buSzPct val="77777"/>
              <a:buFont typeface="Wingdings" panose="05000000000000000000" pitchFamily="2" charset="2"/>
              <a:buChar char="q"/>
              <a:tabLst>
                <a:tab pos="377825" algn="l"/>
                <a:tab pos="378460" algn="l"/>
              </a:tabLst>
            </a:pP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doses</a:t>
            </a:r>
            <a:r>
              <a:rPr sz="2000" b="1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radiation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periods</a:t>
            </a:r>
            <a:r>
              <a:rPr sz="2000" b="1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produce</a:t>
            </a:r>
            <a:r>
              <a:rPr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acute</a:t>
            </a:r>
            <a:r>
              <a:rPr sz="2000" b="1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(severe),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short- </a:t>
            </a:r>
            <a:r>
              <a:rPr sz="2000" spc="-5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 effects. High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doses of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radiation tend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kill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cells.</a:t>
            </a: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damages tissues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organs. All of this can lead to a whole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 response called</a:t>
            </a:r>
            <a:r>
              <a:rPr sz="2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Acute Radiation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Syndrome</a:t>
            </a:r>
            <a:r>
              <a:rPr sz="2000" b="1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(ARS). ARS can end in</a:t>
            </a:r>
            <a:r>
              <a:rPr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death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7815" marR="668655" indent="-285750" algn="just">
              <a:lnSpc>
                <a:spcPct val="100600"/>
              </a:lnSpc>
              <a:spcBef>
                <a:spcPts val="969"/>
              </a:spcBef>
              <a:buClr>
                <a:srgbClr val="8FC225"/>
              </a:buClr>
              <a:buSzPct val="77777"/>
              <a:buFont typeface="Wingdings" panose="05000000000000000000" pitchFamily="2" charset="2"/>
              <a:buChar char="q"/>
              <a:tabLst>
                <a:tab pos="377825" algn="l"/>
                <a:tab pos="378460" algn="l"/>
              </a:tabLst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can be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exposed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high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doses of radiation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few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ways.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include nuclear weapon explosions, nuclear reactor accidents and </a:t>
            </a:r>
            <a:r>
              <a:rPr sz="2000" spc="-5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workplace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accidents.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2274" y="784091"/>
            <a:ext cx="8667776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24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sz="24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chronic</a:t>
            </a:r>
            <a:r>
              <a:rPr sz="24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effects</a:t>
            </a:r>
            <a:r>
              <a:rPr sz="24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</a:t>
            </a:r>
            <a:r>
              <a:rPr sz="24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radiation </a:t>
            </a:r>
            <a:r>
              <a:rPr sz="24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exposure?</a:t>
            </a:r>
          </a:p>
        </p:txBody>
      </p:sp>
      <p:sp>
        <p:nvSpPr>
          <p:cNvPr id="3" name="object 3"/>
          <p:cNvSpPr/>
          <p:nvPr/>
        </p:nvSpPr>
        <p:spPr>
          <a:xfrm>
            <a:off x="546811" y="1729329"/>
            <a:ext cx="128905" cy="67310"/>
          </a:xfrm>
          <a:custGeom>
            <a:avLst/>
            <a:gdLst/>
            <a:ahLst/>
            <a:cxnLst/>
            <a:rect l="l" t="t" r="r" b="b"/>
            <a:pathLst>
              <a:path w="128904" h="67310">
                <a:moveTo>
                  <a:pt x="0" y="66992"/>
                </a:moveTo>
                <a:lnTo>
                  <a:pt x="0" y="0"/>
                </a:lnTo>
                <a:lnTo>
                  <a:pt x="128542" y="33629"/>
                </a:lnTo>
                <a:lnTo>
                  <a:pt x="0" y="66992"/>
                </a:lnTo>
                <a:close/>
              </a:path>
            </a:pathLst>
          </a:custGeom>
          <a:solidFill>
            <a:srgbClr val="8F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23318" y="1583358"/>
            <a:ext cx="8826500" cy="2297488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77825" marR="5080" indent="-365760" algn="just">
              <a:lnSpc>
                <a:spcPct val="100600"/>
              </a:lnSpc>
              <a:spcBef>
                <a:spcPts val="85"/>
              </a:spcBef>
              <a:buClr>
                <a:srgbClr val="000000"/>
              </a:buClr>
              <a:buSzPct val="77777"/>
              <a:buFont typeface="Wingdings" panose="05000000000000000000" pitchFamily="2" charset="2"/>
              <a:buChar char="q"/>
              <a:tabLst>
                <a:tab pos="377825" algn="l"/>
                <a:tab pos="378460" algn="l"/>
              </a:tabLst>
            </a:pPr>
            <a:r>
              <a:rPr sz="2000" b="1" spc="-5" dirty="0">
                <a:solidFill>
                  <a:srgbClr val="53A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  <a:r>
              <a:rPr sz="2000" b="1" dirty="0">
                <a:solidFill>
                  <a:srgbClr val="53A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solidFill>
                  <a:srgbClr val="53A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doses</a:t>
            </a:r>
            <a:r>
              <a:rPr sz="2000" b="1" spc="75" dirty="0">
                <a:solidFill>
                  <a:srgbClr val="53A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</a:t>
            </a:r>
            <a:r>
              <a:rPr sz="2000" spc="5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solidFill>
                  <a:srgbClr val="53A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sz="2000" b="1" dirty="0">
                <a:solidFill>
                  <a:srgbClr val="53A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solidFill>
                  <a:srgbClr val="53A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periods</a:t>
            </a:r>
            <a:r>
              <a:rPr sz="2000" b="1" spc="5" dirty="0">
                <a:solidFill>
                  <a:srgbClr val="53A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produce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chronic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(long-term)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effects.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Low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doses do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tend to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cause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immediate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tissues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7815" marR="293370" indent="-285750" algn="just">
              <a:lnSpc>
                <a:spcPct val="100600"/>
              </a:lnSpc>
              <a:spcBef>
                <a:spcPts val="969"/>
              </a:spcBef>
              <a:buClr>
                <a:srgbClr val="8FC225"/>
              </a:buClr>
              <a:buSzPct val="77777"/>
              <a:buFont typeface="Wingdings" panose="05000000000000000000" pitchFamily="2" charset="2"/>
              <a:buChar char="q"/>
              <a:tabLst>
                <a:tab pos="377825" algn="l"/>
                <a:tab pos="378460" algn="l"/>
              </a:tabLst>
            </a:pP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 over the long term, they can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damage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alter the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genetic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code</a:t>
            </a:r>
            <a:r>
              <a:rPr sz="2000" spc="5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53A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000" b="1" spc="-5" dirty="0">
                <a:solidFill>
                  <a:srgbClr val="53A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DNA </a:t>
            </a:r>
            <a:r>
              <a:rPr sz="2000" b="1" dirty="0">
                <a:solidFill>
                  <a:srgbClr val="53A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solidFill>
                  <a:srgbClr val="53A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mutations</a:t>
            </a:r>
            <a:r>
              <a:rPr sz="2000" spc="-5" dirty="0">
                <a:solidFill>
                  <a:srgbClr val="53A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This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damage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can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happen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both</a:t>
            </a:r>
            <a:r>
              <a:rPr sz="2000" spc="4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solidFill>
                  <a:srgbClr val="53A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gametes</a:t>
            </a:r>
            <a:r>
              <a:rPr sz="2000" b="1" spc="50" dirty="0">
                <a:solidFill>
                  <a:srgbClr val="53A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4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53A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somatic</a:t>
            </a:r>
            <a:r>
              <a:rPr sz="2000" dirty="0">
                <a:solidFill>
                  <a:srgbClr val="53A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cells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Gametes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reproductive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cells.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DNA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mutations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gametes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inherited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children. These children might grow or develop at slower rates.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Somatic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cells are </a:t>
            </a:r>
            <a:r>
              <a:rPr sz="2000" spc="-49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non-reproductive cells.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Mutations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somatic cells can cause</a:t>
            </a:r>
            <a:r>
              <a:rPr sz="2000" spc="6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solidFill>
                  <a:srgbClr val="53A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cancer</a:t>
            </a:r>
            <a:r>
              <a:rPr lang="en-IN" sz="2000" b="1" spc="-10" dirty="0">
                <a:solidFill>
                  <a:srgbClr val="53A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2313" y="617728"/>
            <a:ext cx="6263137" cy="5806846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77825" marR="5080" indent="-365760" algn="just">
              <a:lnSpc>
                <a:spcPct val="100600"/>
              </a:lnSpc>
              <a:spcBef>
                <a:spcPts val="85"/>
              </a:spcBef>
              <a:buClr>
                <a:srgbClr val="8FC225"/>
              </a:buClr>
              <a:buSzPct val="77777"/>
              <a:buFont typeface="Wingdings" panose="05000000000000000000" pitchFamily="2" charset="2"/>
              <a:buChar char="q"/>
              <a:tabLst>
                <a:tab pos="377825" algn="l"/>
                <a:tab pos="378460" algn="l"/>
              </a:tabLst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Radiation is an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physical</a:t>
            </a:r>
            <a:r>
              <a:rPr sz="2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carcinogen</a:t>
            </a:r>
            <a:r>
              <a:rPr sz="2000" b="1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(cancer-causing agent).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studies have linked cancer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occupational or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accidental exposure to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radiation. </a:t>
            </a:r>
            <a:r>
              <a:rPr sz="2000" spc="-5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include: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Clr>
                <a:srgbClr val="8FC225"/>
              </a:buClr>
              <a:buFont typeface="Wingdings" panose="05000000000000000000" pitchFamily="2" charset="2"/>
              <a:buChar char="q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7825" indent="-365760" algn="just">
              <a:lnSpc>
                <a:spcPct val="100000"/>
              </a:lnSpc>
              <a:spcBef>
                <a:spcPts val="1695"/>
              </a:spcBef>
              <a:buClr>
                <a:srgbClr val="8FC225"/>
              </a:buClr>
              <a:buSzPct val="77777"/>
              <a:buFont typeface="Wingdings" panose="05000000000000000000" pitchFamily="2" charset="2"/>
              <a:buChar char="q"/>
              <a:tabLst>
                <a:tab pos="377825" algn="l"/>
                <a:tab pos="378460" algn="l"/>
              </a:tabLst>
            </a:pP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ung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cancer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uranium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miners</a:t>
            </a: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7825" indent="-365760" algn="just">
              <a:lnSpc>
                <a:spcPct val="100000"/>
              </a:lnSpc>
              <a:spcBef>
                <a:spcPts val="985"/>
              </a:spcBef>
              <a:buClr>
                <a:srgbClr val="8FC225"/>
              </a:buClr>
              <a:buSzPct val="77777"/>
              <a:buFont typeface="Wingdings" panose="05000000000000000000" pitchFamily="2" charset="2"/>
              <a:buChar char="q"/>
              <a:tabLst>
                <a:tab pos="377825" algn="l"/>
                <a:tab pos="378460" algn="l"/>
              </a:tabLst>
            </a:pP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000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eukemia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(blood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cancer) in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atomic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bomb survivors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7825" indent="-365760" algn="just">
              <a:lnSpc>
                <a:spcPct val="100000"/>
              </a:lnSpc>
              <a:spcBef>
                <a:spcPts val="985"/>
              </a:spcBef>
              <a:buClr>
                <a:srgbClr val="8FC225"/>
              </a:buClr>
              <a:buSzPct val="77777"/>
              <a:buFont typeface="Wingdings" panose="05000000000000000000" pitchFamily="2" charset="2"/>
              <a:buChar char="q"/>
              <a:tabLst>
                <a:tab pos="377825" algn="l"/>
                <a:tab pos="378460" algn="l"/>
              </a:tabLst>
            </a:pP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cancer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radium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(glowing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in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wrist watches)</a:t>
            </a: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7825" indent="-365760" algn="just">
              <a:lnSpc>
                <a:spcPct val="100000"/>
              </a:lnSpc>
              <a:spcBef>
                <a:spcPts val="985"/>
              </a:spcBef>
              <a:buClr>
                <a:srgbClr val="8FC225"/>
              </a:buClr>
              <a:buSzPct val="77777"/>
              <a:buFont typeface="Wingdings" panose="05000000000000000000" pitchFamily="2" charset="2"/>
              <a:buChar char="q"/>
              <a:tabLst>
                <a:tab pos="377825" algn="l"/>
                <a:tab pos="378460" algn="l"/>
              </a:tabLst>
            </a:pP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kin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cancer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radiologists</a:t>
            </a:r>
            <a:endParaRPr lang="en-IN" sz="20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7825" indent="-365760" algn="just">
              <a:lnSpc>
                <a:spcPct val="100000"/>
              </a:lnSpc>
              <a:spcBef>
                <a:spcPts val="985"/>
              </a:spcBef>
              <a:buClr>
                <a:srgbClr val="8FC225"/>
              </a:buClr>
              <a:buSzPct val="77777"/>
              <a:buFont typeface="Wingdings" panose="05000000000000000000" pitchFamily="2" charset="2"/>
              <a:buChar char="q"/>
              <a:tabLst>
                <a:tab pos="377825" algn="l"/>
                <a:tab pos="37846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Radiologists are medical doctors that specialize in diagnosing and treating injuries and diseases using medical imaging (radiology) procedures (exams/tests) such as X-rays, computed tomography (CT), magnetic resonance imaging (MRI), nuclear medicine, positron emission tomography (PET) and ultrasound.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27850" y="729928"/>
            <a:ext cx="5230960" cy="539814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5258" y="622887"/>
            <a:ext cx="3567429" cy="574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5" dirty="0">
                <a:solidFill>
                  <a:srgbClr val="8FC225"/>
                </a:solidFill>
                <a:latin typeface="Trebuchet MS"/>
                <a:cs typeface="Trebuchet MS"/>
              </a:rPr>
              <a:t>Radiation</a:t>
            </a:r>
            <a:r>
              <a:rPr sz="3600" spc="-75" dirty="0">
                <a:solidFill>
                  <a:srgbClr val="8FC225"/>
                </a:solidFill>
                <a:latin typeface="Trebuchet MS"/>
                <a:cs typeface="Trebuchet MS"/>
              </a:rPr>
              <a:t> </a:t>
            </a:r>
            <a:r>
              <a:rPr sz="3600" spc="-5" dirty="0">
                <a:solidFill>
                  <a:srgbClr val="8FC225"/>
                </a:solidFill>
                <a:latin typeface="Trebuchet MS"/>
                <a:cs typeface="Trebuchet MS"/>
              </a:rPr>
              <a:t>Biology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55915" y="2874212"/>
            <a:ext cx="128905" cy="67310"/>
          </a:xfrm>
          <a:custGeom>
            <a:avLst/>
            <a:gdLst/>
            <a:ahLst/>
            <a:cxnLst/>
            <a:rect l="l" t="t" r="r" b="b"/>
            <a:pathLst>
              <a:path w="128905" h="67310">
                <a:moveTo>
                  <a:pt x="0" y="66992"/>
                </a:moveTo>
                <a:lnTo>
                  <a:pt x="0" y="0"/>
                </a:lnTo>
                <a:lnTo>
                  <a:pt x="128542" y="33629"/>
                </a:lnTo>
                <a:lnTo>
                  <a:pt x="0" y="66992"/>
                </a:lnTo>
                <a:close/>
              </a:path>
            </a:pathLst>
          </a:custGeom>
          <a:solidFill>
            <a:srgbClr val="8F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55915" y="4377594"/>
            <a:ext cx="128905" cy="67310"/>
          </a:xfrm>
          <a:custGeom>
            <a:avLst/>
            <a:gdLst/>
            <a:ahLst/>
            <a:cxnLst/>
            <a:rect l="l" t="t" r="r" b="b"/>
            <a:pathLst>
              <a:path w="128905" h="67310">
                <a:moveTo>
                  <a:pt x="0" y="66992"/>
                </a:moveTo>
                <a:lnTo>
                  <a:pt x="0" y="0"/>
                </a:lnTo>
                <a:lnTo>
                  <a:pt x="128542" y="33629"/>
                </a:lnTo>
                <a:lnTo>
                  <a:pt x="0" y="66992"/>
                </a:lnTo>
                <a:close/>
              </a:path>
            </a:pathLst>
          </a:custGeom>
          <a:solidFill>
            <a:srgbClr val="8F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81621" y="1377101"/>
            <a:ext cx="8913229" cy="472994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62865" marR="793115" algn="just">
              <a:lnSpc>
                <a:spcPct val="100600"/>
              </a:lnSpc>
              <a:spcBef>
                <a:spcPts val="85"/>
              </a:spcBef>
              <a:buClr>
                <a:srgbClr val="8FC225"/>
              </a:buClr>
              <a:buSzPct val="77777"/>
              <a:tabLst>
                <a:tab pos="428625" algn="l"/>
                <a:tab pos="429259" algn="l"/>
              </a:tabLst>
            </a:pP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sz="2000" spc="3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biological</a:t>
            </a:r>
            <a:r>
              <a:rPr sz="2000" b="1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damage</a:t>
            </a:r>
            <a:r>
              <a:rPr sz="2000" b="1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effects</a:t>
            </a:r>
            <a:r>
              <a:rPr sz="2000" b="1" spc="3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consequence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lang="en-IN"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interactions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the</a:t>
            </a:r>
            <a:r>
              <a:rPr sz="2000" spc="60" dirty="0">
                <a:solidFill>
                  <a:srgbClr val="99CA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atoms</a:t>
            </a:r>
            <a:r>
              <a:rPr sz="2000" spc="25" dirty="0">
                <a:solidFill>
                  <a:srgbClr val="99CA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forming the cells</a:t>
            </a:r>
            <a:r>
              <a:rPr lang="en-IN"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are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mechanisms by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 ultimately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affects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cells. These </a:t>
            </a:r>
            <a:r>
              <a:rPr sz="2000" spc="-52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mechanisms are commonly called: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5765" marR="175260" indent="-342900" algn="just">
              <a:lnSpc>
                <a:spcPct val="100600"/>
              </a:lnSpc>
              <a:spcBef>
                <a:spcPts val="975"/>
              </a:spcBef>
              <a:buClr>
                <a:srgbClr val="000000"/>
              </a:buClr>
              <a:buSzPct val="77777"/>
              <a:buFont typeface="Wingdings" panose="05000000000000000000" pitchFamily="2" charset="2"/>
              <a:buChar char="q"/>
              <a:tabLst>
                <a:tab pos="428625" algn="l"/>
                <a:tab pos="429259" algn="l"/>
              </a:tabLst>
            </a:pPr>
            <a:r>
              <a:rPr sz="2000" b="1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 </a:t>
            </a:r>
            <a:r>
              <a:rPr sz="2000" b="1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effects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Direct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effects are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caused by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radiation, when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 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interacts directly with the atoms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</a:t>
            </a:r>
            <a:r>
              <a:rPr sz="2000" spc="5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DNA</a:t>
            </a:r>
            <a:r>
              <a:rPr sz="2000" b="1" spc="2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molecule, or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other 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cellular component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critical to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survival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cell. The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probability of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53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interacting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DNA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molecule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very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since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critical </a:t>
            </a:r>
            <a:r>
              <a:rPr sz="2000" spc="-52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 up such a small part of the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5765" marR="68580" indent="-342900" algn="just">
              <a:lnSpc>
                <a:spcPct val="100600"/>
              </a:lnSpc>
              <a:spcBef>
                <a:spcPts val="975"/>
              </a:spcBef>
              <a:buClr>
                <a:srgbClr val="000000"/>
              </a:buClr>
              <a:buSzPct val="77777"/>
              <a:buFont typeface="Wingdings" panose="05000000000000000000" pitchFamily="2" charset="2"/>
              <a:buChar char="q"/>
              <a:tabLst>
                <a:tab pos="428625" algn="l"/>
                <a:tab pos="429259" algn="l"/>
              </a:tabLst>
            </a:pPr>
            <a:r>
              <a:rPr sz="2000" b="1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Indirect </a:t>
            </a:r>
            <a:r>
              <a:rPr sz="2000" b="1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effects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Indirect effects are caused by interaction of radiation 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usually with</a:t>
            </a:r>
            <a:r>
              <a:rPr sz="2000" spc="5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</a:t>
            </a:r>
            <a:r>
              <a:rPr sz="2000" b="1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molecules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Each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cell, just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is the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for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human 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body, is mostly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water. Ionizing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 may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 the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bonds that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hold the 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molecule together, producing</a:t>
            </a:r>
            <a:r>
              <a:rPr sz="2000" spc="1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radicals</a:t>
            </a:r>
            <a:r>
              <a:rPr sz="2000" b="1" spc="2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such as hydroxyl OH, superoxide </a:t>
            </a:r>
            <a:r>
              <a:rPr sz="2000" spc="-53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anion 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000" spc="7" baseline="-15873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000" spc="7" baseline="34391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others.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radicals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contribute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the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destruction of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</a:t>
            </a:r>
            <a:r>
              <a:rPr lang="en-IN"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050" y="1143000"/>
            <a:ext cx="8917940" cy="398000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77825" marR="5080" indent="-365760" algn="just">
              <a:lnSpc>
                <a:spcPct val="100600"/>
              </a:lnSpc>
              <a:spcBef>
                <a:spcPts val="85"/>
              </a:spcBef>
              <a:buClr>
                <a:srgbClr val="8FC225"/>
              </a:buClr>
              <a:buSzPct val="77777"/>
              <a:buFont typeface="Wingdings" panose="05000000000000000000" pitchFamily="2" charset="2"/>
              <a:buChar char="q"/>
              <a:tabLst>
                <a:tab pos="377825" algn="l"/>
                <a:tab pos="378460" algn="l"/>
              </a:tabLst>
            </a:pP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large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cells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particular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called a</a:t>
            </a:r>
            <a:r>
              <a:rPr sz="2000" spc="3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tissue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tissue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forms </a:t>
            </a:r>
            <a:r>
              <a:rPr sz="2000" spc="-52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specialised functional unit,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called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organ. The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and number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cells 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affected is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also an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 factor.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cells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organs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body are</a:t>
            </a:r>
            <a:r>
              <a:rPr sz="2000" spc="6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</a:t>
            </a:r>
            <a:r>
              <a:rPr sz="2000" b="1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sensitive</a:t>
            </a:r>
            <a:r>
              <a:rPr sz="2000" b="1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ionizing radiation</a:t>
            </a:r>
            <a:r>
              <a:rPr sz="2000" spc="3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 others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7825" marR="207010" indent="-365760" algn="just">
              <a:lnSpc>
                <a:spcPct val="100600"/>
              </a:lnSpc>
              <a:spcBef>
                <a:spcPts val="969"/>
              </a:spcBef>
              <a:buClr>
                <a:srgbClr val="8FC225"/>
              </a:buClr>
              <a:buSzPct val="77777"/>
              <a:buFont typeface="Wingdings" panose="05000000000000000000" pitchFamily="2" charset="2"/>
              <a:buChar char="q"/>
              <a:tabLst>
                <a:tab pos="377825" algn="l"/>
                <a:tab pos="378460" algn="l"/>
              </a:tabLst>
            </a:pP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Sensitivity of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various types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cells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ionizing radiation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very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for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tissues 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consisting of cells that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divide rapidly</a:t>
            </a:r>
            <a:r>
              <a:rPr sz="2000" b="1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like those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 in bone marrow, stomach, </a:t>
            </a:r>
            <a:r>
              <a:rPr sz="2000" spc="-52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intestines,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male and female reproductive organs, and developing fetuses.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7825" marR="194945" indent="-365760" algn="just">
              <a:lnSpc>
                <a:spcPct val="100600"/>
              </a:lnSpc>
              <a:spcBef>
                <a:spcPts val="975"/>
              </a:spcBef>
              <a:buClr>
                <a:srgbClr val="8FC225"/>
              </a:buClr>
              <a:buSzPct val="77777"/>
              <a:buFont typeface="Wingdings" panose="05000000000000000000" pitchFamily="2" charset="2"/>
              <a:buChar char="q"/>
              <a:tabLst>
                <a:tab pos="377825" algn="l"/>
                <a:tab pos="378460" algn="l"/>
              </a:tabLst>
            </a:pP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Living cells can be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classified according to their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rate of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reproduction,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also 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indicates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their relative sensitivity to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radiation.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a result, actively reproducing cells </a:t>
            </a:r>
            <a:r>
              <a:rPr sz="2000" spc="-484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more sensitive to ionizing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than cells that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 up skin, kidney or liver 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tissue. The nerve and muscle cells are the slowest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regenerate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are the least 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sensitive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0243" y="301965"/>
            <a:ext cx="6448193" cy="227079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79931" y="2845994"/>
            <a:ext cx="9338720" cy="3105209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93700" marR="449580" indent="-342900" algn="just">
              <a:lnSpc>
                <a:spcPct val="101499"/>
              </a:lnSpc>
              <a:spcBef>
                <a:spcPts val="70"/>
              </a:spcBef>
              <a:buFont typeface="Wingdings" panose="05000000000000000000" pitchFamily="2" charset="2"/>
              <a:buChar char="q"/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sensitivity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various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organs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correlate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relative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sensitivity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cells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sz="2000" spc="-4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composed.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9580" indent="-342900" algn="just">
              <a:lnSpc>
                <a:spcPct val="100000"/>
              </a:lnSpc>
              <a:spcBef>
                <a:spcPts val="25"/>
              </a:spcBef>
              <a:buFont typeface="Wingdings" panose="05000000000000000000" pitchFamily="2" charset="2"/>
              <a:buChar char="q"/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practice,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sensitivity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represented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tissue</a:t>
            </a:r>
            <a:r>
              <a:rPr sz="2000" b="1" spc="10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weighting</a:t>
            </a:r>
            <a:r>
              <a:rPr sz="2000" b="1" spc="10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factor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2000" b="1" spc="30" baseline="-175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equivalent</a:t>
            </a:r>
            <a:r>
              <a:rPr sz="2000" spc="10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uFill>
                  <a:solidFill>
                    <a:srgbClr val="99CA3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dose</a:t>
            </a:r>
            <a:r>
              <a:rPr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tissue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relative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tissue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 </a:t>
            </a:r>
            <a:r>
              <a:rPr sz="2000" spc="-4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total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detriment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resulting from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uniform irradiation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</a:t>
            </a: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3700" marR="358775" indent="-342900" algn="just">
              <a:lnSpc>
                <a:spcPct val="101499"/>
              </a:lnSpc>
              <a:spcBef>
                <a:spcPts val="5"/>
              </a:spcBef>
              <a:buFont typeface="Wingdings" panose="05000000000000000000" pitchFamily="2" charset="2"/>
              <a:buChar char="q"/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irradiated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partially,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dose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strongly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tissue,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irradiated.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example,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mSv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gamma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dose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whole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mSv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dose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thyroid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same,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terms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spc="-4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risk, as a whole-body dose of 10 +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0.04 x 50 = 12 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mSv.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6250" y="762000"/>
            <a:ext cx="6800850" cy="574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b="1" spc="-10" dirty="0">
                <a:solidFill>
                  <a:srgbClr val="8FC225"/>
                </a:solidFill>
                <a:latin typeface="Arial"/>
                <a:cs typeface="Arial"/>
              </a:rPr>
              <a:t>Penetrating</a:t>
            </a:r>
            <a:r>
              <a:rPr sz="3600" b="1" dirty="0">
                <a:solidFill>
                  <a:srgbClr val="8FC225"/>
                </a:solidFill>
                <a:latin typeface="Arial"/>
                <a:cs typeface="Arial"/>
              </a:rPr>
              <a:t> </a:t>
            </a:r>
            <a:r>
              <a:rPr sz="3600" b="1" spc="-10" dirty="0">
                <a:solidFill>
                  <a:srgbClr val="8FC225"/>
                </a:solidFill>
                <a:latin typeface="Arial"/>
                <a:cs typeface="Arial"/>
              </a:rPr>
              <a:t>Power</a:t>
            </a:r>
            <a:r>
              <a:rPr sz="3600" b="1" dirty="0">
                <a:solidFill>
                  <a:srgbClr val="8FC225"/>
                </a:solidFill>
                <a:latin typeface="Arial"/>
                <a:cs typeface="Arial"/>
              </a:rPr>
              <a:t> </a:t>
            </a:r>
            <a:r>
              <a:rPr sz="3600" b="1" spc="-5" dirty="0">
                <a:solidFill>
                  <a:srgbClr val="8FC225"/>
                </a:solidFill>
                <a:latin typeface="Arial"/>
                <a:cs typeface="Arial"/>
              </a:rPr>
              <a:t>of</a:t>
            </a:r>
            <a:r>
              <a:rPr sz="3600" b="1" dirty="0">
                <a:solidFill>
                  <a:srgbClr val="8FC225"/>
                </a:solidFill>
                <a:latin typeface="Arial"/>
                <a:cs typeface="Arial"/>
              </a:rPr>
              <a:t> </a:t>
            </a:r>
            <a:r>
              <a:rPr sz="3600" b="1" spc="-10" dirty="0">
                <a:solidFill>
                  <a:srgbClr val="8FC225"/>
                </a:solidFill>
                <a:latin typeface="Arial"/>
                <a:cs typeface="Arial"/>
              </a:rPr>
              <a:t>Radiation</a:t>
            </a:r>
            <a:endParaRPr sz="3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2312" y="1675528"/>
            <a:ext cx="9159240" cy="2919197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97815" marR="5080" indent="-285750" algn="just">
              <a:lnSpc>
                <a:spcPct val="100600"/>
              </a:lnSpc>
              <a:spcBef>
                <a:spcPts val="85"/>
              </a:spcBef>
              <a:buClr>
                <a:srgbClr val="8FC225"/>
              </a:buClr>
              <a:buSzPct val="77777"/>
              <a:buFont typeface="Wingdings" panose="05000000000000000000" pitchFamily="2" charset="2"/>
              <a:buChar char="q"/>
              <a:tabLst>
                <a:tab pos="378460" algn="l"/>
              </a:tabLst>
            </a:pP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all the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natural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man-made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sources, we should quite reasonably 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 concerned about how all the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might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affect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health.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damage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living 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systems is done by radioactive emissions when the particles or rays strike tissue, cells, </a:t>
            </a:r>
            <a:r>
              <a:rPr sz="2000" spc="-49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molecules and alter them.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7815" marR="41910" indent="-285750" algn="just">
              <a:lnSpc>
                <a:spcPct val="100600"/>
              </a:lnSpc>
              <a:spcBef>
                <a:spcPts val="969"/>
              </a:spcBef>
              <a:buClr>
                <a:srgbClr val="8FC225"/>
              </a:buClr>
              <a:buSzPct val="77777"/>
              <a:buFont typeface="Wingdings" panose="05000000000000000000" pitchFamily="2" charset="2"/>
              <a:buChar char="q"/>
              <a:tabLst>
                <a:tab pos="441325" algn="l"/>
                <a:tab pos="441959" algn="l"/>
              </a:tabLst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interactions can alter molecular structure and function; cells no longer carry out </a:t>
            </a:r>
            <a:r>
              <a:rPr sz="2000" spc="-49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their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function and molecules, such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DNA, no longer carry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appropriate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information.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Large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amounts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very dangerous,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deadly.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cases,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damage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(or very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number)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cells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breaking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wall or otherwise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preventing a cell from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reproducing.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4217" y="563983"/>
            <a:ext cx="8822055" cy="62542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065" marR="5080">
              <a:lnSpc>
                <a:spcPct val="98700"/>
              </a:lnSpc>
              <a:spcBef>
                <a:spcPts val="125"/>
              </a:spcBef>
              <a:buClr>
                <a:srgbClr val="8FC225"/>
              </a:buClr>
              <a:buSzPct val="77777"/>
              <a:tabLst>
                <a:tab pos="377825" algn="l"/>
                <a:tab pos="378460" algn="l"/>
              </a:tabLst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have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physical characteristics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biological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effectiveness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causing </a:t>
            </a:r>
            <a:r>
              <a:rPr sz="2000" spc="-48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tissue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damage.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7931" y="1447800"/>
            <a:ext cx="9246919" cy="52727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algn="just">
              <a:lnSpc>
                <a:spcPct val="101499"/>
              </a:lnSpc>
              <a:spcBef>
                <a:spcPts val="70"/>
              </a:spcBef>
            </a:pPr>
            <a:r>
              <a:rPr sz="2000" b="1" i="1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Gamma</a:t>
            </a:r>
            <a:r>
              <a:rPr sz="2000" b="1" i="1" spc="1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i="1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sz="2000" b="1" i="1" spc="4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1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X-rays</a:t>
            </a:r>
            <a:r>
              <a:rPr sz="2000" spc="1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000" spc="1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electromagnetic</a:t>
            </a:r>
            <a:r>
              <a:rPr sz="2000" spc="1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sz="2000" spc="1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sz="2000" spc="2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visible</a:t>
            </a:r>
            <a:r>
              <a:rPr sz="2000" spc="1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light,</a:t>
            </a:r>
            <a:r>
              <a:rPr sz="2000" spc="1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radio</a:t>
            </a:r>
            <a:r>
              <a:rPr sz="2000" spc="1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waves,</a:t>
            </a:r>
            <a:r>
              <a:rPr sz="2000" spc="1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1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ultraviolet 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light.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sz="2000" spc="1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electromagnetic</a:t>
            </a:r>
            <a:r>
              <a:rPr sz="2000" spc="1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radiations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</a:t>
            </a:r>
            <a:r>
              <a:rPr sz="2000" spc="1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sz="2000" spc="1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1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amount</a:t>
            </a:r>
            <a:r>
              <a:rPr sz="2000" spc="1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energy</a:t>
            </a:r>
            <a:r>
              <a:rPr sz="2000" spc="1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sz="2000" spc="1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have.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Gamma</a:t>
            </a:r>
            <a:r>
              <a:rPr sz="2000" spc="1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sz="2000" spc="1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000" spc="-43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able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travel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metres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centimetres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tissue.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readily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penetrates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materials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sometimes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called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"penetrating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radiation."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Radioactive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materials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emit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gamma 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X-rays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constitute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both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external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internal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hazard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humans.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Dense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materials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needed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shielding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gamma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radiation.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Clothing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turnout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gear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little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shielding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penetrating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prevent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contamination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skin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radioactive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5"/>
              </a:spcBef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287020" algn="just">
              <a:lnSpc>
                <a:spcPct val="101499"/>
              </a:lnSpc>
              <a:spcBef>
                <a:spcPts val="5"/>
              </a:spcBef>
            </a:pPr>
            <a:r>
              <a:rPr sz="2000" b="1" i="1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Beta</a:t>
            </a:r>
            <a:r>
              <a:rPr sz="2000" b="1" i="1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i="1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sz="2000" b="1" i="1" spc="3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consists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atomic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particles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(electrons)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ejected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radioactive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atom.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Beta 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may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travel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metres</a:t>
            </a:r>
            <a:r>
              <a:rPr sz="2000" spc="1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00" spc="1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moderately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penetrating.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Beta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sz="2000" spc="1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penetrate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 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skin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"germinal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layer,"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skin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cells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produced.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beta-emitting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contaminants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allowed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remain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skin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prolonged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time,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may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cause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skin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injury.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Beta-emitting </a:t>
            </a:r>
            <a:r>
              <a:rPr sz="2000" spc="-42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contaminants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may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harmful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deposited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internally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clothing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turnout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gear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protection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against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beta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radiation.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Turnout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gear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dry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clothing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beta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emitters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43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skin.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3954" y="1677326"/>
            <a:ext cx="137160" cy="67310"/>
          </a:xfrm>
          <a:custGeom>
            <a:avLst/>
            <a:gdLst/>
            <a:ahLst/>
            <a:cxnLst/>
            <a:rect l="l" t="t" r="r" b="b"/>
            <a:pathLst>
              <a:path w="137159" h="67310">
                <a:moveTo>
                  <a:pt x="0" y="66992"/>
                </a:moveTo>
                <a:lnTo>
                  <a:pt x="16770" y="0"/>
                </a:lnTo>
                <a:lnTo>
                  <a:pt x="136972" y="33629"/>
                </a:lnTo>
                <a:lnTo>
                  <a:pt x="0" y="66992"/>
                </a:lnTo>
                <a:close/>
              </a:path>
            </a:pathLst>
          </a:custGeom>
          <a:solidFill>
            <a:srgbClr val="8F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216" y="1531177"/>
            <a:ext cx="9083675" cy="305943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77825" marR="232410" indent="-365760">
              <a:lnSpc>
                <a:spcPct val="100600"/>
              </a:lnSpc>
              <a:spcBef>
                <a:spcPts val="85"/>
              </a:spcBef>
              <a:buClr>
                <a:srgbClr val="000000"/>
              </a:buClr>
              <a:buSzPct val="80555"/>
              <a:buFont typeface="Arial"/>
              <a:buChar char="►"/>
              <a:tabLst>
                <a:tab pos="377825" algn="l"/>
                <a:tab pos="378460" algn="l"/>
              </a:tabLst>
            </a:pPr>
            <a:r>
              <a:rPr sz="1800" b="1" i="1" spc="-5" dirty="0">
                <a:solidFill>
                  <a:srgbClr val="3F3F3F"/>
                </a:solidFill>
                <a:latin typeface="Arial"/>
                <a:cs typeface="Arial"/>
              </a:rPr>
              <a:t>Alpha</a:t>
            </a:r>
            <a:r>
              <a:rPr sz="1800" b="1" i="1" spc="-10" dirty="0">
                <a:solidFill>
                  <a:srgbClr val="3F3F3F"/>
                </a:solidFill>
                <a:latin typeface="Arial"/>
                <a:cs typeface="Arial"/>
              </a:rPr>
              <a:t> radiation</a:t>
            </a:r>
            <a:r>
              <a:rPr sz="1800" b="1" i="1" spc="2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consists of specific particles</a:t>
            </a:r>
            <a:r>
              <a:rPr sz="1800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ejected from some radioactive atom. 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Alpha particles are essentially </a:t>
            </a:r>
            <a:r>
              <a:rPr sz="1800" spc="-10" dirty="0">
                <a:solidFill>
                  <a:srgbClr val="3F3F3F"/>
                </a:solidFill>
                <a:latin typeface="Arial MT"/>
                <a:cs typeface="Arial MT"/>
              </a:rPr>
              <a:t>helium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 nuclei. They have low </a:t>
            </a:r>
            <a:r>
              <a:rPr sz="1800" spc="-10" dirty="0">
                <a:solidFill>
                  <a:srgbClr val="3F3F3F"/>
                </a:solidFill>
                <a:latin typeface="Arial MT"/>
                <a:cs typeface="Arial MT"/>
              </a:rPr>
              <a:t>penetrating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power and 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short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Arial MT"/>
                <a:cs typeface="Arial MT"/>
              </a:rPr>
              <a:t>range.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Alpha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Arial MT"/>
                <a:cs typeface="Arial MT"/>
              </a:rPr>
              <a:t>radiation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is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not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able</a:t>
            </a:r>
            <a:r>
              <a:rPr sz="1800" spc="5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to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Arial MT"/>
                <a:cs typeface="Arial MT"/>
              </a:rPr>
              <a:t>penetrate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skin,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but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they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can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be</a:t>
            </a:r>
            <a:r>
              <a:rPr sz="1800" spc="5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Arial MT"/>
                <a:cs typeface="Arial MT"/>
              </a:rPr>
              <a:t>harmful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to 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Arial MT"/>
                <a:cs typeface="Arial MT"/>
              </a:rPr>
              <a:t>humans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 if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the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Arial MT"/>
                <a:cs typeface="Arial MT"/>
              </a:rPr>
              <a:t>materials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are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Arial MT"/>
                <a:cs typeface="Arial MT"/>
              </a:rPr>
              <a:t>inhaled,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swallowed,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or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absorbed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Arial MT"/>
                <a:cs typeface="Arial MT"/>
              </a:rPr>
              <a:t>through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open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wounds. 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Alpha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Arial MT"/>
                <a:cs typeface="Arial MT"/>
              </a:rPr>
              <a:t>radiation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is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not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able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to</a:t>
            </a:r>
            <a:r>
              <a:rPr sz="1800" spc="5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Arial MT"/>
                <a:cs typeface="Arial MT"/>
              </a:rPr>
              <a:t>penetrate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Arial MT"/>
                <a:cs typeface="Arial MT"/>
              </a:rPr>
              <a:t>turnout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Arial MT"/>
                <a:cs typeface="Arial MT"/>
              </a:rPr>
              <a:t>gear,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clothing,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or</a:t>
            </a:r>
            <a:r>
              <a:rPr sz="1800" spc="5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a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cover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on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a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Arial MT"/>
                <a:cs typeface="Arial MT"/>
              </a:rPr>
              <a:t>probe.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50">
              <a:latin typeface="Arial MT"/>
              <a:cs typeface="Arial MT"/>
            </a:endParaRPr>
          </a:p>
          <a:p>
            <a:pPr marL="377825" marR="5080">
              <a:lnSpc>
                <a:spcPct val="100600"/>
              </a:lnSpc>
            </a:pPr>
            <a:r>
              <a:rPr sz="1800" b="1" i="1" spc="-10" dirty="0">
                <a:solidFill>
                  <a:srgbClr val="3F3F3F"/>
                </a:solidFill>
                <a:latin typeface="Arial"/>
                <a:cs typeface="Arial"/>
              </a:rPr>
              <a:t>Neutrons</a:t>
            </a:r>
            <a:r>
              <a:rPr sz="1800" b="1" i="1" spc="5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are uncharged sub </a:t>
            </a:r>
            <a:r>
              <a:rPr sz="1800" spc="-10" dirty="0">
                <a:solidFill>
                  <a:srgbClr val="3F3F3F"/>
                </a:solidFill>
                <a:latin typeface="Arial MT"/>
                <a:cs typeface="Arial MT"/>
              </a:rPr>
              <a:t>atomic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 particles produced by the fission of radioactive 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atoms.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Within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tissue,</a:t>
            </a:r>
            <a:r>
              <a:rPr sz="1800" spc="5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Arial MT"/>
                <a:cs typeface="Arial MT"/>
              </a:rPr>
              <a:t>neutrons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Arial MT"/>
                <a:cs typeface="Arial MT"/>
              </a:rPr>
              <a:t>predominantly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lose</a:t>
            </a:r>
            <a:r>
              <a:rPr sz="1800" spc="5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Arial MT"/>
                <a:cs typeface="Arial MT"/>
              </a:rPr>
              <a:t>energy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in</a:t>
            </a:r>
            <a:r>
              <a:rPr sz="1800" spc="5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collisions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with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Arial MT"/>
                <a:cs typeface="Arial MT"/>
              </a:rPr>
              <a:t>protons</a:t>
            </a:r>
            <a:r>
              <a:rPr sz="1800" spc="5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in 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the nuclei of hydrogen atoms, in body </a:t>
            </a:r>
            <a:r>
              <a:rPr sz="1800" spc="-25" dirty="0">
                <a:solidFill>
                  <a:srgbClr val="3F3F3F"/>
                </a:solidFill>
                <a:latin typeface="Arial MT"/>
                <a:cs typeface="Arial MT"/>
              </a:rPr>
              <a:t>water.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The interaction results in ionisation within </a:t>
            </a:r>
            <a:r>
              <a:rPr sz="1800" spc="-49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the tissue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atoms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so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Arial MT"/>
                <a:cs typeface="Arial MT"/>
              </a:rPr>
              <a:t>irradiated.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Except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at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lethal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levels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the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Arial MT"/>
                <a:cs typeface="Arial MT"/>
              </a:rPr>
              <a:t>neutron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flux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is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not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Arial MT"/>
                <a:cs typeface="Arial MT"/>
              </a:rPr>
              <a:t>sufficiently </a:t>
            </a:r>
            <a:r>
              <a:rPr sz="1800" spc="-484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high</a:t>
            </a:r>
            <a:r>
              <a:rPr sz="1800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to cause the tissue to</a:t>
            </a:r>
            <a:r>
              <a:rPr sz="1800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Arial MT"/>
                <a:cs typeface="Arial MT"/>
              </a:rPr>
              <a:t>become radioactive.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9217" y="1657637"/>
            <a:ext cx="7412389" cy="176719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08481" y="4036331"/>
            <a:ext cx="8874125" cy="169687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83540" marR="906144" indent="-371475" algn="just">
              <a:lnSpc>
                <a:spcPts val="2170"/>
              </a:lnSpc>
              <a:spcBef>
                <a:spcPts val="160"/>
              </a:spcBef>
              <a:buFont typeface="Wingdings" panose="05000000000000000000" pitchFamily="2" charset="2"/>
              <a:buChar char="q"/>
              <a:tabLst>
                <a:tab pos="383540" algn="l"/>
                <a:tab pos="384175" algn="l"/>
              </a:tabLst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ability of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damage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molecules is analyzed in terms of what is </a:t>
            </a:r>
            <a:r>
              <a:rPr sz="2000" spc="-48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called</a:t>
            </a:r>
            <a:r>
              <a:rPr sz="20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ionizing power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3540" marR="5080" indent="-371475" algn="just">
              <a:lnSpc>
                <a:spcPts val="2170"/>
              </a:lnSpc>
              <a:spcBef>
                <a:spcPts val="5"/>
              </a:spcBef>
              <a:buFont typeface="Wingdings" panose="05000000000000000000" pitchFamily="2" charset="2"/>
              <a:buChar char="q"/>
              <a:tabLst>
                <a:tab pos="383540" algn="l"/>
                <a:tab pos="384175" algn="l"/>
              </a:tabLst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radiation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particle interacts with atoms, the interaction can cause the atom to </a:t>
            </a:r>
            <a:r>
              <a:rPr sz="2000" spc="-4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lose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electrons and thus become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ionized.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3540" marR="385445" indent="-371475" algn="just">
              <a:lnSpc>
                <a:spcPts val="2170"/>
              </a:lnSpc>
              <a:spcBef>
                <a:spcPts val="5"/>
              </a:spcBef>
              <a:buFont typeface="Wingdings" panose="05000000000000000000" pitchFamily="2" charset="2"/>
              <a:buChar char="q"/>
              <a:tabLst>
                <a:tab pos="383540" algn="l"/>
                <a:tab pos="384175" algn="l"/>
              </a:tabLst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greater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likelihood that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damage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will occur by an interaction is the ionizing </a:t>
            </a:r>
            <a:r>
              <a:rPr sz="2000" spc="-48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radiation.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540756"/>
            <a:ext cx="12179300" cy="5310505"/>
            <a:chOff x="0" y="1540756"/>
            <a:chExt cx="12179300" cy="5310505"/>
          </a:xfrm>
        </p:grpSpPr>
        <p:sp>
          <p:nvSpPr>
            <p:cNvPr id="3" name="object 3"/>
            <p:cNvSpPr/>
            <p:nvPr/>
          </p:nvSpPr>
          <p:spPr>
            <a:xfrm>
              <a:off x="0" y="4009019"/>
              <a:ext cx="448309" cy="2842260"/>
            </a:xfrm>
            <a:custGeom>
              <a:avLst/>
              <a:gdLst/>
              <a:ahLst/>
              <a:cxnLst/>
              <a:rect l="l" t="t" r="r" b="b"/>
              <a:pathLst>
                <a:path w="448309" h="2842259">
                  <a:moveTo>
                    <a:pt x="448265" y="2841836"/>
                  </a:moveTo>
                  <a:lnTo>
                    <a:pt x="0" y="2841836"/>
                  </a:lnTo>
                  <a:lnTo>
                    <a:pt x="0" y="0"/>
                  </a:lnTo>
                  <a:lnTo>
                    <a:pt x="448265" y="2841836"/>
                  </a:lnTo>
                  <a:close/>
                </a:path>
              </a:pathLst>
            </a:custGeom>
            <a:solidFill>
              <a:srgbClr val="8FC225">
                <a:alpha val="847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540756"/>
              <a:ext cx="12179300" cy="426749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66262" y="191773"/>
            <a:ext cx="5715000" cy="518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200" spc="10" dirty="0">
                <a:solidFill>
                  <a:srgbClr val="8FC225"/>
                </a:solidFill>
              </a:rPr>
              <a:t>Penetrating</a:t>
            </a:r>
            <a:r>
              <a:rPr sz="3200" dirty="0">
                <a:solidFill>
                  <a:srgbClr val="8FC225"/>
                </a:solidFill>
              </a:rPr>
              <a:t> </a:t>
            </a:r>
            <a:r>
              <a:rPr sz="3200" spc="15" dirty="0">
                <a:solidFill>
                  <a:srgbClr val="8FC225"/>
                </a:solidFill>
              </a:rPr>
              <a:t>Power</a:t>
            </a:r>
            <a:r>
              <a:rPr sz="3200" spc="5" dirty="0">
                <a:solidFill>
                  <a:srgbClr val="8FC225"/>
                </a:solidFill>
              </a:rPr>
              <a:t> </a:t>
            </a:r>
            <a:r>
              <a:rPr sz="3200" spc="10" dirty="0">
                <a:solidFill>
                  <a:srgbClr val="8FC225"/>
                </a:solidFill>
              </a:rPr>
              <a:t>of</a:t>
            </a:r>
            <a:r>
              <a:rPr sz="3200" spc="5" dirty="0">
                <a:solidFill>
                  <a:srgbClr val="8FC225"/>
                </a:solidFill>
              </a:rPr>
              <a:t> </a:t>
            </a:r>
            <a:r>
              <a:rPr sz="3200" spc="10" dirty="0">
                <a:solidFill>
                  <a:srgbClr val="8FC225"/>
                </a:solidFill>
              </a:rPr>
              <a:t>Radiation</a:t>
            </a:r>
            <a:endParaRPr sz="32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09019"/>
            <a:ext cx="448309" cy="2842260"/>
          </a:xfrm>
          <a:custGeom>
            <a:avLst/>
            <a:gdLst/>
            <a:ahLst/>
            <a:cxnLst/>
            <a:rect l="l" t="t" r="r" b="b"/>
            <a:pathLst>
              <a:path w="448309" h="2842259">
                <a:moveTo>
                  <a:pt x="448265" y="2841836"/>
                </a:moveTo>
                <a:lnTo>
                  <a:pt x="0" y="2841836"/>
                </a:lnTo>
                <a:lnTo>
                  <a:pt x="0" y="0"/>
                </a:lnTo>
                <a:lnTo>
                  <a:pt x="448265" y="2841836"/>
                </a:lnTo>
                <a:close/>
              </a:path>
            </a:pathLst>
          </a:custGeom>
          <a:solidFill>
            <a:srgbClr val="8FC225">
              <a:alpha val="8470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0177" y="312833"/>
            <a:ext cx="7264400" cy="518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200" b="1" spc="15" dirty="0">
                <a:solidFill>
                  <a:srgbClr val="8FC225"/>
                </a:solidFill>
                <a:latin typeface="Arial"/>
                <a:cs typeface="Arial"/>
              </a:rPr>
              <a:t>Range</a:t>
            </a:r>
            <a:r>
              <a:rPr sz="3200" b="1" spc="5" dirty="0">
                <a:solidFill>
                  <a:srgbClr val="8FC225"/>
                </a:solidFill>
                <a:latin typeface="Arial"/>
                <a:cs typeface="Arial"/>
              </a:rPr>
              <a:t> </a:t>
            </a:r>
            <a:r>
              <a:rPr sz="3200" b="1" spc="10" dirty="0">
                <a:solidFill>
                  <a:srgbClr val="8FC225"/>
                </a:solidFill>
                <a:latin typeface="Arial"/>
                <a:cs typeface="Arial"/>
              </a:rPr>
              <a:t>of</a:t>
            </a:r>
            <a:r>
              <a:rPr sz="3200" b="1" spc="5" dirty="0">
                <a:solidFill>
                  <a:srgbClr val="8FC225"/>
                </a:solidFill>
                <a:latin typeface="Arial"/>
                <a:cs typeface="Arial"/>
              </a:rPr>
              <a:t> </a:t>
            </a:r>
            <a:r>
              <a:rPr sz="3200" b="1" spc="10" dirty="0">
                <a:solidFill>
                  <a:srgbClr val="8FC225"/>
                </a:solidFill>
                <a:latin typeface="Arial"/>
                <a:cs typeface="Arial"/>
              </a:rPr>
              <a:t>Effects </a:t>
            </a:r>
            <a:r>
              <a:rPr sz="3200" b="1" spc="15" dirty="0">
                <a:solidFill>
                  <a:srgbClr val="8FC225"/>
                </a:solidFill>
                <a:latin typeface="Arial"/>
                <a:cs typeface="Arial"/>
              </a:rPr>
              <a:t>on</a:t>
            </a:r>
            <a:r>
              <a:rPr sz="3200" b="1" spc="5" dirty="0">
                <a:solidFill>
                  <a:srgbClr val="8FC225"/>
                </a:solidFill>
                <a:latin typeface="Arial"/>
                <a:cs typeface="Arial"/>
              </a:rPr>
              <a:t> </a:t>
            </a:r>
            <a:r>
              <a:rPr sz="3200" b="1" spc="15" dirty="0">
                <a:solidFill>
                  <a:srgbClr val="8FC225"/>
                </a:solidFill>
                <a:latin typeface="Arial"/>
                <a:cs typeface="Arial"/>
              </a:rPr>
              <a:t>the</a:t>
            </a:r>
            <a:r>
              <a:rPr sz="3200" b="1" spc="5" dirty="0">
                <a:solidFill>
                  <a:srgbClr val="8FC225"/>
                </a:solidFill>
                <a:latin typeface="Arial"/>
                <a:cs typeface="Arial"/>
              </a:rPr>
              <a:t> </a:t>
            </a:r>
            <a:r>
              <a:rPr sz="3200" b="1" spc="20" dirty="0">
                <a:solidFill>
                  <a:srgbClr val="8FC225"/>
                </a:solidFill>
                <a:latin typeface="Arial"/>
                <a:cs typeface="Arial"/>
              </a:rPr>
              <a:t>Human</a:t>
            </a:r>
            <a:r>
              <a:rPr sz="3200" b="1" spc="10" dirty="0">
                <a:solidFill>
                  <a:srgbClr val="8FC225"/>
                </a:solidFill>
                <a:latin typeface="Arial"/>
                <a:cs typeface="Arial"/>
              </a:rPr>
              <a:t> </a:t>
            </a:r>
            <a:r>
              <a:rPr sz="3200" b="1" spc="15" dirty="0">
                <a:solidFill>
                  <a:srgbClr val="8FC225"/>
                </a:solidFill>
                <a:latin typeface="Arial"/>
                <a:cs typeface="Arial"/>
              </a:rPr>
              <a:t>Body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7146" y="1141094"/>
            <a:ext cx="7508960" cy="563172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6388" y="449388"/>
            <a:ext cx="8141970" cy="2226892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34925">
              <a:lnSpc>
                <a:spcPct val="100000"/>
              </a:lnSpc>
              <a:spcBef>
                <a:spcPts val="1085"/>
              </a:spcBef>
            </a:pPr>
            <a:r>
              <a:rPr sz="1800" b="1" spc="-5" dirty="0">
                <a:solidFill>
                  <a:srgbClr val="3F3F3F"/>
                </a:solidFill>
                <a:latin typeface="Trebuchet MS"/>
                <a:cs typeface="Trebuchet MS"/>
              </a:rPr>
              <a:t>Summary</a:t>
            </a:r>
            <a:endParaRPr sz="1800" dirty="0">
              <a:latin typeface="Trebuchet MS"/>
              <a:cs typeface="Trebuchet MS"/>
            </a:endParaRPr>
          </a:p>
          <a:p>
            <a:pPr marL="377825" marR="110489" indent="-365760" algn="just">
              <a:lnSpc>
                <a:spcPct val="100600"/>
              </a:lnSpc>
              <a:spcBef>
                <a:spcPts val="975"/>
              </a:spcBef>
              <a:buClr>
                <a:srgbClr val="8FC225"/>
              </a:buClr>
              <a:buSzPct val="77777"/>
              <a:buFont typeface="Wingdings" panose="05000000000000000000" pitchFamily="2" charset="2"/>
              <a:buChar char="q"/>
              <a:tabLst>
                <a:tab pos="377825" algn="l"/>
                <a:tab pos="378460" algn="l"/>
              </a:tabLst>
            </a:pP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ability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penetrate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damage </a:t>
            </a:r>
            <a:r>
              <a:rPr sz="2000" spc="-53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tissue, with alpha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particles the least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penetrating but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potentially most 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damaging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gamma rays the most penetrating.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7825" marR="5080" indent="-365760" algn="just">
              <a:lnSpc>
                <a:spcPct val="100600"/>
              </a:lnSpc>
              <a:spcBef>
                <a:spcPts val="975"/>
              </a:spcBef>
              <a:buClr>
                <a:srgbClr val="8FC225"/>
              </a:buClr>
              <a:buSzPct val="77777"/>
              <a:buFont typeface="Wingdings" panose="05000000000000000000" pitchFamily="2" charset="2"/>
              <a:buChar char="q"/>
              <a:tabLst>
                <a:tab pos="377825" algn="l"/>
                <a:tab pos="378460" algn="l"/>
              </a:tabLst>
            </a:pP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two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ways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minimize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exposure is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limit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exposure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to </a:t>
            </a:r>
            <a:r>
              <a:rPr sz="2000" spc="-52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 from the source.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5258" y="622887"/>
            <a:ext cx="4208145" cy="574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b="1" spc="-10" dirty="0">
                <a:solidFill>
                  <a:srgbClr val="8FC225"/>
                </a:solidFill>
                <a:latin typeface="Trebuchet MS"/>
                <a:cs typeface="Trebuchet MS"/>
              </a:rPr>
              <a:t>REFERENCE</a:t>
            </a:r>
            <a:r>
              <a:rPr sz="3600" b="1" spc="-65" dirty="0">
                <a:solidFill>
                  <a:srgbClr val="8FC225"/>
                </a:solidFill>
                <a:latin typeface="Trebuchet MS"/>
                <a:cs typeface="Trebuchet MS"/>
              </a:rPr>
              <a:t> </a:t>
            </a:r>
            <a:r>
              <a:rPr sz="3600" b="1" spc="-5" dirty="0">
                <a:solidFill>
                  <a:srgbClr val="8FC225"/>
                </a:solidFill>
                <a:latin typeface="Trebuchet MS"/>
                <a:cs typeface="Trebuchet MS"/>
              </a:rPr>
              <a:t>BOOKS:</a:t>
            </a:r>
            <a:endParaRPr sz="36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5258" y="1524000"/>
            <a:ext cx="8305800" cy="2736583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97815" marR="89535" indent="-285750">
              <a:lnSpc>
                <a:spcPct val="100600"/>
              </a:lnSpc>
              <a:spcBef>
                <a:spcPts val="85"/>
              </a:spcBef>
              <a:buClr>
                <a:srgbClr val="8FC225"/>
              </a:buClr>
              <a:buSzPct val="77777"/>
              <a:buFont typeface="Wingdings" panose="05000000000000000000" pitchFamily="2" charset="2"/>
              <a:buChar char="q"/>
              <a:tabLst>
                <a:tab pos="377825" algn="l"/>
                <a:tab pos="378460" algn="l"/>
              </a:tabLst>
            </a:pPr>
            <a:r>
              <a:rPr sz="2000" spc="-5" dirty="0" err="1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Suraishkumar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Madhulika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Dixit, Biology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Engineers and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 –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Biologists, </a:t>
            </a:r>
            <a:r>
              <a:rPr sz="2000" spc="-53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IIT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Madras, Oxford University Press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7815" marR="5080" indent="-285750">
              <a:lnSpc>
                <a:spcPct val="100600"/>
              </a:lnSpc>
              <a:spcBef>
                <a:spcPts val="969"/>
              </a:spcBef>
              <a:buClr>
                <a:srgbClr val="8FC225"/>
              </a:buClr>
              <a:buSzPct val="77777"/>
              <a:buFont typeface="Wingdings" panose="05000000000000000000" pitchFamily="2" charset="2"/>
              <a:buChar char="q"/>
              <a:tabLst>
                <a:tab pos="377825" algn="l"/>
                <a:tab pos="378460" algn="l"/>
              </a:tabLst>
            </a:pPr>
            <a:r>
              <a:rPr sz="2000" spc="-5" dirty="0" err="1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Naren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Anubhav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E, Vinay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C,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Mohsen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G, ‘Electromagnetic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Due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Cellular, Wi-Fi and Bluetooth Technologies: How Safe are we?’,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Access 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section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Antenna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Propagation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5G</a:t>
            </a:r>
            <a:r>
              <a:rPr sz="2000" spc="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beyond,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pp42980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43000, </a:t>
            </a:r>
            <a:r>
              <a:rPr sz="2000" spc="-52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January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2020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7815" marR="154305" indent="-285750">
              <a:lnSpc>
                <a:spcPct val="100600"/>
              </a:lnSpc>
              <a:spcBef>
                <a:spcPts val="975"/>
              </a:spcBef>
              <a:buClr>
                <a:srgbClr val="8FC225"/>
              </a:buClr>
              <a:buSzPct val="77777"/>
              <a:buFont typeface="Wingdings" panose="05000000000000000000" pitchFamily="2" charset="2"/>
              <a:buChar char="q"/>
              <a:tabLst>
                <a:tab pos="377825" algn="l"/>
                <a:tab pos="378460" algn="l"/>
              </a:tabLst>
            </a:pP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Sapna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E.T., India’s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Organic Farming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Revolution, University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Iowa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Press, </a:t>
            </a:r>
            <a:r>
              <a:rPr sz="2000" spc="-53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Iowa</a:t>
            </a: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City, 2014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245</TotalTime>
  <Words>2675</Words>
  <Application>Microsoft Office PowerPoint</Application>
  <PresentationFormat>Custom</PresentationFormat>
  <Paragraphs>108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Arial</vt:lpstr>
      <vt:lpstr>Arial MT</vt:lpstr>
      <vt:lpstr>Calibri</vt:lpstr>
      <vt:lpstr>Lucida Sans Unicode</vt:lpstr>
      <vt:lpstr>Roboto</vt:lpstr>
      <vt:lpstr>Times New Roman</vt:lpstr>
      <vt:lpstr>Trebuchet MS</vt:lpstr>
      <vt:lpstr>Wingdings</vt:lpstr>
      <vt:lpstr>Office Theme</vt:lpstr>
      <vt:lpstr>RADIATION</vt:lpstr>
      <vt:lpstr>What is Radiation</vt:lpstr>
      <vt:lpstr>IONIZATION</vt:lpstr>
      <vt:lpstr>α and β particles</vt:lpstr>
      <vt:lpstr>Gamma(γ)rays</vt:lpstr>
      <vt:lpstr>Exposure to α particles</vt:lpstr>
      <vt:lpstr>Exposure to β particles</vt:lpstr>
      <vt:lpstr>PowerPoint Presentation</vt:lpstr>
      <vt:lpstr>PowerPoint Presentation</vt:lpstr>
      <vt:lpstr>Ionizing radiation has different ionization  mechanisms and may be grouped as:</vt:lpstr>
      <vt:lpstr>Distinguish between Non-Ionizing and Ionizing Radiation</vt:lpstr>
      <vt:lpstr>PowerPoint Presentation</vt:lpstr>
      <vt:lpstr>PowerPoint Presentation</vt:lpstr>
      <vt:lpstr>Effects of radiation on Human body</vt:lpstr>
      <vt:lpstr>Several factors affect how the human body reacts to ionizing radiation.</vt:lpstr>
      <vt:lpstr>What is a lethal dose of radiation?</vt:lpstr>
      <vt:lpstr>What are the acute effects of radiation exposure?</vt:lpstr>
      <vt:lpstr>What are the chronic effects of radiation exposure?</vt:lpstr>
      <vt:lpstr>PowerPoint Presentation</vt:lpstr>
      <vt:lpstr>Radiation Biology</vt:lpstr>
      <vt:lpstr>PowerPoint Presentation</vt:lpstr>
      <vt:lpstr>PowerPoint Presentation</vt:lpstr>
      <vt:lpstr>Penetrating Power of Radiation</vt:lpstr>
      <vt:lpstr>PowerPoint Presentation</vt:lpstr>
      <vt:lpstr>PowerPoint Presentation</vt:lpstr>
      <vt:lpstr>PowerPoint Presentation</vt:lpstr>
      <vt:lpstr>Penetrating Power of Radiation</vt:lpstr>
      <vt:lpstr>Range of Effects on the Human Body</vt:lpstr>
      <vt:lpstr>PowerPoint Presentation</vt:lpstr>
      <vt:lpstr>REFERENCE BOOKS: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RADIATION</dc:title>
  <dc:creator>Dhruv Koshta</dc:creator>
  <cp:lastModifiedBy>Dhruv Koshta</cp:lastModifiedBy>
  <cp:revision>27</cp:revision>
  <dcterms:created xsi:type="dcterms:W3CDTF">2023-12-13T08:55:13Z</dcterms:created>
  <dcterms:modified xsi:type="dcterms:W3CDTF">2024-11-29T04:38:20Z</dcterms:modified>
</cp:coreProperties>
</file>